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b4266081-fee5-0d39-2b1e-d477431ec36d}">
          <p14:sldIdLst>
            <p14:sldId id="256"/>
            <p14:sldId id="257"/>
            <p14:sldId id="258"/>
          </p14:sldIdLst>
        </p14:section>
        <p14:section name="6つのスキル" id="{aa30f25c-4369-2582-157d-d94a960d2061}">
          <p14:sldIdLst>
            <p14:sldId id="259"/>
            <p14:sldId id="260"/>
            <p14:sldId id="261"/>
            <p14:sldId id="262"/>
          </p14:sldIdLst>
        </p14:section>
        <p14:section name="使われる人の特徴" id="{c9e036e7-28f7-770d-da74-11260176ab13}">
          <p14:sldIdLst>
            <p14:sldId id="263"/>
            <p14:sldId id="264"/>
            <p14:sldId id="265"/>
          </p14:sldIdLst>
        </p14:section>
        <p14:section name="演習とまとめ" id="{9b3880d9-ae35-8620-6253-9c754f1d849d}">
          <p14:sldIdLst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本日のテーマはAIツール、特にClaudeを「使いこなす」とはどういうことか。道具の性能ではなく、使う側のスキルと姿勢で成果が決まることを伝える。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4部構成。前半で考え方の軸を示し、後半で具体的なスキルと落とし穴、最後に演習で体感してもらう。所要時間の目安は60分。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この対比が講義全体の軸。以降のスキルも落とし穴も、すべてこの一点に集約されることを先に伝える。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セクション1。6つのスキルを3つずつ2枚で紹介する。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「新しく入った開発者に仕事を頼む」と同じ、と説明すると伝わりやすい。目的と文脈がない依頼は人間相手でも失敗する。検証は最も軽視されがちだが最も重要。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4〜6は一朝一夕には身につかないが、意識するだけで変わる。特に「やり直し」は心理的ハードルが低いので、すぐ実践を促す。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両方を講義中にデモすると効果が高い。右側の指示には「目的（経理部の月次集計）」「文脈（/orders、100万行）」「制約（個人情報、型ヒント、既存テスト）」が入っていることを指し示す。診断課題Bと同じ題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セクション2。誰にでも当てはまる瞬間がある、と前置きして受講者の防御反応を下げる。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6つの特徴は、前のセクションの6つのスキルの裏返し。どれか一つでも心当たりがあれば、それが改善の入口になる。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限界は「使わない理由」ではなく「どう使うかの指針」。検証が必要な場面を事前に見分けられるようになることが狙い。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セクション3。診断課題は30分、演習は15分、まとめは5分を目安に。診断課題の配布資料と講師用解答は別ファイル。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診断課題の配布資料と講師用解答は別ファイル。Claudeは使わず、紙で判断する。課題Aの仕込みは「境界値の誤り」「直近12か月が今年だけになっている」「キャンセル除外が実装されていない」の3つと、根拠のない「テスト済み」の主張。参加者には「正解を当てるテストではない」と伝え、普段のレビューと同じ感覚で取り組んでもらう。種明かしは6つのスキルの後に行うと効果が高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採点は提出用紙3点を見れば1人3分程度。本人に返すときは×が集中した区分と、対応するスキルを一言添える。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演習のポイントは3番目のステップ。差が「見える」だけでなく「言語化できる」ことで、次の依頼から自分で再現できるようになる。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最後に講義冒頭の軸に戻って締める。3つの行動はどれも今日から実践できるものに絞っている。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Claudeを使いこなすスキル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Claudeを使いこなすために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必要なスキル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システム開発編：AIを使う人、AIに使われる人</a:t>
            </a:r>
            <a:endParaRPr lang="en-US" sz="1800" dirty="0"/>
          </a:p>
        </p:txBody>
      </p:sp>
      <p:sp>
        <p:nvSpPr>
          <p:cNvPr id="4" name="Robot circle"/>
          <p:cNvSpPr/>
          <p:nvPr/>
        </p:nvSpPr>
        <p:spPr>
          <a:xfrm>
            <a:off x="7223760" y="54864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Robo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2827" y="857707"/>
            <a:ext cx="570586" cy="570586"/>
          </a:xfrm>
          <a:prstGeom prst="rect">
            <a:avLst/>
          </a:prstGeom>
        </p:spPr>
      </p:pic>
      <p:sp>
        <p:nvSpPr>
          <p:cNvPr id="6" name="Credit"/>
          <p:cNvSpPr txBox="1"/>
          <p:nvPr/>
        </p:nvSpPr>
        <p:spPr>
          <a:xfrm>
            <a:off x="64008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社内講義資料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本日の内容</a:t>
            </a:r>
            <a:endParaRPr lang="en-US" sz="2600" dirty="0"/>
          </a:p>
        </p:txBody>
      </p:sp>
      <p:sp>
        <p:nvSpPr>
          <p:cNvPr id="3" name="Agenda card 01"/>
          <p:cNvSpPr/>
          <p:nvPr/>
        </p:nvSpPr>
        <p:spPr>
          <a:xfrm>
            <a:off x="45720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genda 01 circle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genda 0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766621"/>
            <a:ext cx="307238" cy="307238"/>
          </a:xfrm>
          <a:prstGeom prst="rect">
            <a:avLst/>
          </a:prstGeom>
        </p:spPr>
      </p:pic>
      <p:sp>
        <p:nvSpPr>
          <p:cNvPr id="6" name="Agenda num 01"/>
          <p:cNvSpPr txBox="1"/>
          <p:nvPr/>
        </p:nvSpPr>
        <p:spPr>
          <a:xfrm>
            <a:off x="146304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Agenda head 01"/>
          <p:cNvSpPr txBox="1"/>
          <p:nvPr/>
        </p:nvSpPr>
        <p:spPr>
          <a:xfrm>
            <a:off x="68580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一つの軸</a:t>
            </a:r>
            <a:endParaRPr lang="en-US" sz="1600" dirty="0"/>
          </a:p>
        </p:txBody>
      </p:sp>
      <p:sp>
        <p:nvSpPr>
          <p:cNvPr id="8" name="Agenda desc 01"/>
          <p:cNvSpPr txBox="1"/>
          <p:nvPr/>
        </p:nvSpPr>
        <p:spPr>
          <a:xfrm>
            <a:off x="68580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「使う人」と「使われる人」の違いはどこにあるか</a:t>
            </a:r>
            <a:endParaRPr lang="en-US" sz="1200" dirty="0"/>
          </a:p>
        </p:txBody>
      </p:sp>
      <p:sp>
        <p:nvSpPr>
          <p:cNvPr id="9" name="Agenda card 02"/>
          <p:cNvSpPr/>
          <p:nvPr/>
        </p:nvSpPr>
        <p:spPr>
          <a:xfrm>
            <a:off x="256032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genda 02 circle"/>
          <p:cNvSpPr/>
          <p:nvPr/>
        </p:nvSpPr>
        <p:spPr>
          <a:xfrm>
            <a:off x="278892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Agenda 0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341" y="1766621"/>
            <a:ext cx="307238" cy="307238"/>
          </a:xfrm>
          <a:prstGeom prst="rect">
            <a:avLst/>
          </a:prstGeom>
        </p:spPr>
      </p:pic>
      <p:sp>
        <p:nvSpPr>
          <p:cNvPr id="12" name="Agenda num 02"/>
          <p:cNvSpPr txBox="1"/>
          <p:nvPr/>
        </p:nvSpPr>
        <p:spPr>
          <a:xfrm>
            <a:off x="356616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02</a:t>
            </a:r>
            <a:endParaRPr lang="en-US" sz="2400" dirty="0"/>
          </a:p>
        </p:txBody>
      </p:sp>
      <p:sp>
        <p:nvSpPr>
          <p:cNvPr id="13" name="Agenda head 02"/>
          <p:cNvSpPr txBox="1"/>
          <p:nvPr/>
        </p:nvSpPr>
        <p:spPr>
          <a:xfrm>
            <a:off x="278892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6つのスキル</a:t>
            </a:r>
            <a:endParaRPr lang="en-US" sz="1600" dirty="0"/>
          </a:p>
        </p:txBody>
      </p:sp>
      <p:sp>
        <p:nvSpPr>
          <p:cNvPr id="14" name="Agenda desc 02"/>
          <p:cNvSpPr txBox="1"/>
          <p:nvPr/>
        </p:nvSpPr>
        <p:spPr>
          <a:xfrm>
            <a:off x="278892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Claudeを使いこなす人が持っているもの</a:t>
            </a:r>
            <a:endParaRPr lang="en-US" sz="1200" dirty="0"/>
          </a:p>
        </p:txBody>
      </p:sp>
      <p:sp>
        <p:nvSpPr>
          <p:cNvPr id="15" name="Agenda card 03"/>
          <p:cNvSpPr/>
          <p:nvPr/>
        </p:nvSpPr>
        <p:spPr>
          <a:xfrm>
            <a:off x="466344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genda 03 circle"/>
          <p:cNvSpPr/>
          <p:nvPr/>
        </p:nvSpPr>
        <p:spPr>
          <a:xfrm>
            <a:off x="489204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Agenda 0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461" y="1766621"/>
            <a:ext cx="307238" cy="307238"/>
          </a:xfrm>
          <a:prstGeom prst="rect">
            <a:avLst/>
          </a:prstGeom>
        </p:spPr>
      </p:pic>
      <p:sp>
        <p:nvSpPr>
          <p:cNvPr id="18" name="Agenda num 03"/>
          <p:cNvSpPr txBox="1"/>
          <p:nvPr/>
        </p:nvSpPr>
        <p:spPr>
          <a:xfrm>
            <a:off x="566928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03</a:t>
            </a:r>
            <a:endParaRPr lang="en-US" sz="2400" dirty="0"/>
          </a:p>
        </p:txBody>
      </p:sp>
      <p:sp>
        <p:nvSpPr>
          <p:cNvPr id="19" name="Agenda head 03"/>
          <p:cNvSpPr txBox="1"/>
          <p:nvPr/>
        </p:nvSpPr>
        <p:spPr>
          <a:xfrm>
            <a:off x="489204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使われる人とは</a:t>
            </a:r>
            <a:endParaRPr lang="en-US" sz="1600" dirty="0"/>
          </a:p>
        </p:txBody>
      </p:sp>
      <p:sp>
        <p:nvSpPr>
          <p:cNvPr id="20" name="Agenda desc 03"/>
          <p:cNvSpPr txBox="1"/>
          <p:nvPr/>
        </p:nvSpPr>
        <p:spPr>
          <a:xfrm>
            <a:off x="489204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陥りやすい落とし穴と、AIの限界</a:t>
            </a:r>
            <a:endParaRPr lang="en-US" sz="1200" dirty="0"/>
          </a:p>
        </p:txBody>
      </p:sp>
      <p:sp>
        <p:nvSpPr>
          <p:cNvPr id="21" name="Agenda card 04"/>
          <p:cNvSpPr/>
          <p:nvPr/>
        </p:nvSpPr>
        <p:spPr>
          <a:xfrm>
            <a:off x="676656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genda 04 circle"/>
          <p:cNvSpPr/>
          <p:nvPr/>
        </p:nvSpPr>
        <p:spPr>
          <a:xfrm>
            <a:off x="69951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Agenda 0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1581" y="1766621"/>
            <a:ext cx="307238" cy="307238"/>
          </a:xfrm>
          <a:prstGeom prst="rect">
            <a:avLst/>
          </a:prstGeom>
        </p:spPr>
      </p:pic>
      <p:sp>
        <p:nvSpPr>
          <p:cNvPr id="24" name="Agenda num 04"/>
          <p:cNvSpPr txBox="1"/>
          <p:nvPr/>
        </p:nvSpPr>
        <p:spPr>
          <a:xfrm>
            <a:off x="777240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04</a:t>
            </a:r>
            <a:endParaRPr lang="en-US" sz="2400" dirty="0"/>
          </a:p>
        </p:txBody>
      </p:sp>
      <p:sp>
        <p:nvSpPr>
          <p:cNvPr id="25" name="Agenda head 04"/>
          <p:cNvSpPr txBox="1"/>
          <p:nvPr/>
        </p:nvSpPr>
        <p:spPr>
          <a:xfrm>
            <a:off x="699516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診断と演習</a:t>
            </a:r>
            <a:endParaRPr lang="en-US" sz="1600" dirty="0"/>
          </a:p>
        </p:txBody>
      </p:sp>
      <p:sp>
        <p:nvSpPr>
          <p:cNvPr id="26" name="Agenda desc 04"/>
          <p:cNvSpPr txBox="1"/>
          <p:nvPr/>
        </p:nvSpPr>
        <p:spPr>
          <a:xfrm>
            <a:off x="699516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診断課題で今の傾向を知り、演習で練習して明日の行動に落とす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結論：違いは道具ではなく、判断を手放すかどうか</a:t>
            </a:r>
            <a:endParaRPr lang="en-US" sz="2600" dirty="0"/>
          </a:p>
        </p:txBody>
      </p:sp>
      <p:sp>
        <p:nvSpPr>
          <p:cNvPr id="3" name="Card uses"/>
          <p:cNvSpPr/>
          <p:nvPr/>
        </p:nvSpPr>
        <p:spPr>
          <a:xfrm>
            <a:off x="457200" y="1280160"/>
            <a:ext cx="39319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ses circle"/>
          <p:cNvSpPr/>
          <p:nvPr/>
        </p:nvSpPr>
        <p:spPr>
          <a:xfrm>
            <a:off x="731520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Us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744675"/>
            <a:ext cx="351130" cy="351130"/>
          </a:xfrm>
          <a:prstGeom prst="rect">
            <a:avLst/>
          </a:prstGeom>
        </p:spPr>
      </p:pic>
      <p:sp>
        <p:nvSpPr>
          <p:cNvPr id="6" name="Uses head"/>
          <p:cNvSpPr txBox="1"/>
          <p:nvPr/>
        </p:nvSpPr>
        <p:spPr>
          <a:xfrm>
            <a:off x="164592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AIを使う人</a:t>
            </a:r>
            <a:endParaRPr lang="en-US" sz="2000" dirty="0"/>
          </a:p>
        </p:txBody>
      </p:sp>
      <p:sp>
        <p:nvSpPr>
          <p:cNvPr id="7" name="Uses body"/>
          <p:cNvSpPr txBox="1"/>
          <p:nvPr/>
        </p:nvSpPr>
        <p:spPr>
          <a:xfrm>
            <a:off x="731520" y="24688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問いと検証を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自分で持っている</a:t>
            </a:r>
            <a:endParaRPr lang="en-US" sz="2000" dirty="0"/>
          </a:p>
        </p:txBody>
      </p:sp>
      <p:sp>
        <p:nvSpPr>
          <p:cNvPr id="8" name="Uses sub"/>
          <p:cNvSpPr txBox="1"/>
          <p:nvPr/>
        </p:nvSpPr>
        <p:spPr>
          <a:xfrm>
            <a:off x="731520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AIは思考を速める道具。最終判断は自分に残す</a:t>
            </a:r>
            <a:endParaRPr lang="en-US" sz="1200" dirty="0"/>
          </a:p>
        </p:txBody>
      </p:sp>
      <p:sp>
        <p:nvSpPr>
          <p:cNvPr id="9" name="Card usedby"/>
          <p:cNvSpPr/>
          <p:nvPr/>
        </p:nvSpPr>
        <p:spPr>
          <a:xfrm>
            <a:off x="4754880" y="1280160"/>
            <a:ext cx="39319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Usedby circle"/>
          <p:cNvSpPr/>
          <p:nvPr/>
        </p:nvSpPr>
        <p:spPr>
          <a:xfrm>
            <a:off x="5029200" y="15544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Usedby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395" y="1744675"/>
            <a:ext cx="351130" cy="351130"/>
          </a:xfrm>
          <a:prstGeom prst="rect">
            <a:avLst/>
          </a:prstGeom>
        </p:spPr>
      </p:pic>
      <p:sp>
        <p:nvSpPr>
          <p:cNvPr id="12" name="Usedby head"/>
          <p:cNvSpPr txBox="1"/>
          <p:nvPr/>
        </p:nvSpPr>
        <p:spPr>
          <a:xfrm>
            <a:off x="59436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AIに使われる人</a:t>
            </a:r>
            <a:endParaRPr lang="en-US" sz="2000" dirty="0"/>
          </a:p>
        </p:txBody>
      </p:sp>
      <p:sp>
        <p:nvSpPr>
          <p:cNvPr id="13" name="Usedby body"/>
          <p:cNvSpPr txBox="1"/>
          <p:nvPr/>
        </p:nvSpPr>
        <p:spPr>
          <a:xfrm>
            <a:off x="5029200" y="24688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判断を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手放している</a:t>
            </a:r>
            <a:endParaRPr lang="en-US" sz="2000" dirty="0"/>
          </a:p>
        </p:txBody>
      </p:sp>
      <p:sp>
        <p:nvSpPr>
          <p:cNvPr id="14" name="Usedby sub"/>
          <p:cNvSpPr txBox="1"/>
          <p:nvPr/>
        </p:nvSpPr>
        <p:spPr>
          <a:xfrm>
            <a:off x="5029200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AIの出力が自分の答えになり、責任だけが残る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同じツール、同じモデルでも、成果は使う側の姿勢で大きく変わる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Claudeを使いこなす人に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必要な6つのスキル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スキル 1〜3：頼む前に決まっていること</a:t>
            </a:r>
            <a:endParaRPr lang="en-US" sz="2600" dirty="0"/>
          </a:p>
        </p:txBody>
      </p:sp>
      <p:sp>
        <p:nvSpPr>
          <p:cNvPr id="3" name="Skill card 1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kill 1 circle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kill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29461"/>
            <a:ext cx="307238" cy="307238"/>
          </a:xfrm>
          <a:prstGeom prst="rect">
            <a:avLst/>
          </a:prstGeom>
        </p:spPr>
      </p:pic>
      <p:sp>
        <p:nvSpPr>
          <p:cNvPr id="6" name="Skill num 1"/>
          <p:cNvSpPr txBox="1"/>
          <p:nvPr/>
        </p:nvSpPr>
        <p:spPr>
          <a:xfrm>
            <a:off x="1508760" y="14630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kill head 1"/>
          <p:cNvSpPr txBox="1"/>
          <p:nvPr/>
        </p:nvSpPr>
        <p:spPr>
          <a:xfrm>
            <a:off x="196596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目的を言語化する</a:t>
            </a:r>
            <a:endParaRPr lang="en-US" sz="1700" dirty="0"/>
          </a:p>
        </p:txBody>
      </p:sp>
      <p:sp>
        <p:nvSpPr>
          <p:cNvPr id="8" name="Skill desc 1"/>
          <p:cNvSpPr txBox="1"/>
          <p:nvPr/>
        </p:nvSpPr>
        <p:spPr>
          <a:xfrm>
            <a:off x="4480560" y="1371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「何を」「誰のために」「どこまで」を一文で言える。曖昧な指示からは曖昧な成果物しか生まれない</a:t>
            </a:r>
            <a:endParaRPr lang="en-US" sz="1250" dirty="0"/>
          </a:p>
        </p:txBody>
      </p:sp>
      <p:sp>
        <p:nvSpPr>
          <p:cNvPr id="9" name="Skill card 2"/>
          <p:cNvSpPr/>
          <p:nvPr/>
        </p:nvSpPr>
        <p:spPr>
          <a:xfrm>
            <a:off x="457200" y="242316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kill 2 circle"/>
          <p:cNvSpPr/>
          <p:nvPr/>
        </p:nvSpPr>
        <p:spPr>
          <a:xfrm>
            <a:off x="685800" y="2651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kill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1" y="2818181"/>
            <a:ext cx="307238" cy="307238"/>
          </a:xfrm>
          <a:prstGeom prst="rect">
            <a:avLst/>
          </a:prstGeom>
        </p:spPr>
      </p:pic>
      <p:sp>
        <p:nvSpPr>
          <p:cNvPr id="12" name="Skill num 2"/>
          <p:cNvSpPr txBox="1"/>
          <p:nvPr/>
        </p:nvSpPr>
        <p:spPr>
          <a:xfrm>
            <a:off x="1508760" y="26517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Skill head 2"/>
          <p:cNvSpPr txBox="1"/>
          <p:nvPr/>
        </p:nvSpPr>
        <p:spPr>
          <a:xfrm>
            <a:off x="196596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文脈を渡す</a:t>
            </a:r>
            <a:endParaRPr lang="en-US" sz="1700" dirty="0"/>
          </a:p>
        </p:txBody>
      </p:sp>
      <p:sp>
        <p:nvSpPr>
          <p:cNvPr id="14" name="Skill desc 2"/>
          <p:cNvSpPr txBox="1"/>
          <p:nvPr/>
        </p:nvSpPr>
        <p:spPr>
          <a:xfrm>
            <a:off x="4480560" y="25603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技術スタック、既存コード、規約、やってほしくないことを最初に渡す。AIは渡されていない情報を知らない</a:t>
            </a:r>
            <a:endParaRPr lang="en-US" sz="1250" dirty="0"/>
          </a:p>
        </p:txBody>
      </p:sp>
      <p:sp>
        <p:nvSpPr>
          <p:cNvPr id="15" name="Skill card 3"/>
          <p:cNvSpPr/>
          <p:nvPr/>
        </p:nvSpPr>
        <p:spPr>
          <a:xfrm>
            <a:off x="457200" y="361188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kill 3 circle"/>
          <p:cNvSpPr/>
          <p:nvPr/>
        </p:nvSpPr>
        <p:spPr>
          <a:xfrm>
            <a:off x="685800" y="3840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kill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4006901"/>
            <a:ext cx="307238" cy="307238"/>
          </a:xfrm>
          <a:prstGeom prst="rect">
            <a:avLst/>
          </a:prstGeom>
        </p:spPr>
      </p:pic>
      <p:sp>
        <p:nvSpPr>
          <p:cNvPr id="18" name="Skill num 3"/>
          <p:cNvSpPr txBox="1"/>
          <p:nvPr/>
        </p:nvSpPr>
        <p:spPr>
          <a:xfrm>
            <a:off x="1508760" y="38404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kill head 3"/>
          <p:cNvSpPr txBox="1"/>
          <p:nvPr/>
        </p:nvSpPr>
        <p:spPr>
          <a:xfrm>
            <a:off x="196596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検証する</a:t>
            </a:r>
            <a:endParaRPr lang="en-US" sz="1700" dirty="0"/>
          </a:p>
        </p:txBody>
      </p:sp>
      <p:sp>
        <p:nvSpPr>
          <p:cNvPr id="20" name="Skill desc 3"/>
          <p:cNvSpPr txBox="1"/>
          <p:nvPr/>
        </p:nvSpPr>
        <p:spPr>
          <a:xfrm>
            <a:off x="4480560" y="37490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出力の正しさを自分で確かめる手段を持つ。動かす、テストを書く、仕様と照合する。自信ありげな間違いを見抜く唯一の方法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スキル 4〜6：成果の質を左右する土台</a:t>
            </a:r>
            <a:endParaRPr lang="en-US" sz="2600" dirty="0"/>
          </a:p>
        </p:txBody>
      </p:sp>
      <p:sp>
        <p:nvSpPr>
          <p:cNvPr id="3" name="Skill card 4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kill 4 circle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kill 4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29461"/>
            <a:ext cx="307238" cy="307238"/>
          </a:xfrm>
          <a:prstGeom prst="rect">
            <a:avLst/>
          </a:prstGeom>
        </p:spPr>
      </p:pic>
      <p:sp>
        <p:nvSpPr>
          <p:cNvPr id="6" name="Skill num 4"/>
          <p:cNvSpPr txBox="1"/>
          <p:nvPr/>
        </p:nvSpPr>
        <p:spPr>
          <a:xfrm>
            <a:off x="1508760" y="14630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7" name="Skill head 4"/>
          <p:cNvSpPr txBox="1"/>
          <p:nvPr/>
        </p:nvSpPr>
        <p:spPr>
          <a:xfrm>
            <a:off x="196596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分解する</a:t>
            </a:r>
            <a:endParaRPr lang="en-US" sz="1700" dirty="0"/>
          </a:p>
        </p:txBody>
      </p:sp>
      <p:sp>
        <p:nvSpPr>
          <p:cNvPr id="8" name="Skill desc 4"/>
          <p:cNvSpPr txBox="1"/>
          <p:nvPr/>
        </p:nvSpPr>
        <p:spPr>
          <a:xfrm>
            <a:off x="4480560" y="1371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大きな仕事を、AIに任せる単位と自分が判断する単位に切り分ける。全部丸投げも、全部自分でやるのも非効率</a:t>
            </a:r>
            <a:endParaRPr lang="en-US" sz="1250" dirty="0"/>
          </a:p>
        </p:txBody>
      </p:sp>
      <p:sp>
        <p:nvSpPr>
          <p:cNvPr id="9" name="Skill card 5"/>
          <p:cNvSpPr/>
          <p:nvPr/>
        </p:nvSpPr>
        <p:spPr>
          <a:xfrm>
            <a:off x="457200" y="242316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kill 5 circle"/>
          <p:cNvSpPr/>
          <p:nvPr/>
        </p:nvSpPr>
        <p:spPr>
          <a:xfrm>
            <a:off x="685800" y="2651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kill 5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1" y="2818181"/>
            <a:ext cx="307238" cy="307238"/>
          </a:xfrm>
          <a:prstGeom prst="rect">
            <a:avLst/>
          </a:prstGeom>
        </p:spPr>
      </p:pic>
      <p:sp>
        <p:nvSpPr>
          <p:cNvPr id="12" name="Skill num 5"/>
          <p:cNvSpPr txBox="1"/>
          <p:nvPr/>
        </p:nvSpPr>
        <p:spPr>
          <a:xfrm>
            <a:off x="1508760" y="26517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13" name="Skill head 5"/>
          <p:cNvSpPr txBox="1"/>
          <p:nvPr/>
        </p:nvSpPr>
        <p:spPr>
          <a:xfrm>
            <a:off x="196596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領域の基礎知識</a:t>
            </a:r>
            <a:endParaRPr lang="en-US" sz="1700" dirty="0"/>
          </a:p>
        </p:txBody>
      </p:sp>
      <p:sp>
        <p:nvSpPr>
          <p:cNvPr id="14" name="Skill desc 5"/>
          <p:cNvSpPr txBox="1"/>
          <p:nvPr/>
        </p:nvSpPr>
        <p:spPr>
          <a:xfrm>
            <a:off x="4480560" y="25603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基礎が分かる分野では出力の質を判断でき、良い質問も作れる。知識ゼロの分野では「使う」ではなく「信じる」しかなくなる</a:t>
            </a:r>
            <a:endParaRPr lang="en-US" sz="1250" dirty="0"/>
          </a:p>
        </p:txBody>
      </p:sp>
      <p:sp>
        <p:nvSpPr>
          <p:cNvPr id="15" name="Skill card 6"/>
          <p:cNvSpPr/>
          <p:nvPr/>
        </p:nvSpPr>
        <p:spPr>
          <a:xfrm>
            <a:off x="457200" y="361188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kill 6 circle"/>
          <p:cNvSpPr/>
          <p:nvPr/>
        </p:nvSpPr>
        <p:spPr>
          <a:xfrm>
            <a:off x="685800" y="3840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kill 6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4006901"/>
            <a:ext cx="307238" cy="307238"/>
          </a:xfrm>
          <a:prstGeom prst="rect">
            <a:avLst/>
          </a:prstGeom>
        </p:spPr>
      </p:pic>
      <p:sp>
        <p:nvSpPr>
          <p:cNvPr id="18" name="Skill num 6"/>
          <p:cNvSpPr txBox="1"/>
          <p:nvPr/>
        </p:nvSpPr>
        <p:spPr>
          <a:xfrm>
            <a:off x="1508760" y="38404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6</a:t>
            </a:r>
            <a:endParaRPr lang="en-US" sz="2200" dirty="0"/>
          </a:p>
        </p:txBody>
      </p:sp>
      <p:sp>
        <p:nvSpPr>
          <p:cNvPr id="19" name="Skill head 6"/>
          <p:cNvSpPr txBox="1"/>
          <p:nvPr/>
        </p:nvSpPr>
        <p:spPr>
          <a:xfrm>
            <a:off x="196596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やり直しを恐れない</a:t>
            </a:r>
            <a:endParaRPr lang="en-US" sz="1700" dirty="0"/>
          </a:p>
        </p:txBody>
      </p:sp>
      <p:sp>
        <p:nvSpPr>
          <p:cNvPr id="20" name="Skill desc 6"/>
          <p:cNvSpPr txBox="1"/>
          <p:nvPr/>
        </p:nvSpPr>
        <p:spPr>
          <a:xfrm>
            <a:off x="4480560" y="37490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一回目の出力を完成品と思わず、方向を修正して再度頼む。対話は編集作業だと捉える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指示の差がそのまま成果の差になる</a:t>
            </a:r>
            <a:endParaRPr lang="en-US" sz="2600" dirty="0"/>
          </a:p>
        </p:txBody>
      </p:sp>
      <p:sp>
        <p:nvSpPr>
          <p:cNvPr id="3" name="Before card"/>
          <p:cNvSpPr/>
          <p:nvPr/>
        </p:nvSpPr>
        <p:spPr>
          <a:xfrm>
            <a:off x="457200" y="1234440"/>
            <a:ext cx="37947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efore head"/>
          <p:cNvSpPr txBox="1"/>
          <p:nvPr/>
        </p:nvSpPr>
        <p:spPr>
          <a:xfrm>
            <a:off x="685800" y="14173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一行の指示</a:t>
            </a:r>
            <a:endParaRPr lang="en-US" sz="1600" dirty="0"/>
          </a:p>
        </p:txBody>
      </p:sp>
      <p:sp>
        <p:nvSpPr>
          <p:cNvPr id="5" name="Before prompt"/>
          <p:cNvSpPr txBox="1"/>
          <p:nvPr/>
        </p:nvSpPr>
        <p:spPr>
          <a:xfrm>
            <a:off x="685800" y="1920240"/>
            <a:ext cx="3337560" cy="9144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「/orders にCSV出力をつけて」</a:t>
            </a:r>
            <a:endParaRPr lang="en-US" sz="1400" dirty="0"/>
          </a:p>
        </p:txBody>
      </p:sp>
      <p:sp>
        <p:nvSpPr>
          <p:cNvPr id="6" name="Before result"/>
          <p:cNvSpPr txBox="1"/>
          <p:nvPr/>
        </p:nvSpPr>
        <p:spPr>
          <a:xfrm>
            <a:off x="685800" y="30175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結果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動くが、100万行を全件メモリに載せる実装が返る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氏名や住所の列もそのまま出力される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規約と合わず、レビューで差し戻しになる</a:t>
            </a:r>
            <a:endParaRPr lang="en-US" sz="1200" dirty="0"/>
          </a:p>
        </p:txBody>
      </p:sp>
      <p:pic>
        <p:nvPicPr>
          <p:cNvPr id="7" name="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0832" y="2606040"/>
            <a:ext cx="411480" cy="411480"/>
          </a:xfrm>
          <a:prstGeom prst="rect">
            <a:avLst/>
          </a:prstGeom>
        </p:spPr>
      </p:pic>
      <p:sp>
        <p:nvSpPr>
          <p:cNvPr id="8" name="After card"/>
          <p:cNvSpPr/>
          <p:nvPr/>
        </p:nvSpPr>
        <p:spPr>
          <a:xfrm>
            <a:off x="4892040" y="1234440"/>
            <a:ext cx="37947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fter head"/>
          <p:cNvSpPr txBox="1"/>
          <p:nvPr/>
        </p:nvSpPr>
        <p:spPr>
          <a:xfrm>
            <a:off x="5120640" y="14173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目的・文脈・制約を添えた指示</a:t>
            </a:r>
            <a:endParaRPr lang="en-US" sz="1600" dirty="0"/>
          </a:p>
        </p:txBody>
      </p:sp>
      <p:sp>
        <p:nvSpPr>
          <p:cNvPr id="10" name="After prompt"/>
          <p:cNvSpPr txBox="1"/>
          <p:nvPr/>
        </p:nvSpPr>
        <p:spPr>
          <a:xfrm>
            <a:off x="5120640" y="1920240"/>
            <a:ext cx="3337560" cy="9144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「経理部の月次集計用に /orders のCSV出力を追加。100万行なのでストリーミングで。氏名・住所・電話は出力しない。型ヒント必須、既存テストは壊さない」</a:t>
            </a:r>
            <a:endParaRPr lang="en-US" sz="1100" dirty="0"/>
          </a:p>
        </p:txBody>
      </p:sp>
      <p:sp>
        <p:nvSpPr>
          <p:cNvPr id="11" name="After result"/>
          <p:cNvSpPr txBox="1"/>
          <p:nvPr/>
        </p:nvSpPr>
        <p:spPr>
          <a:xfrm>
            <a:off x="5120640" y="30175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結果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そのままレビューに出せる実装が返る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性能と個人情報の制約が最初から満たされる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直す箇所が明確で、修正依頼も一言で済む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02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AIに使われる人の特徴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こんな使い方になっていませんか</a:t>
            </a:r>
            <a:endParaRPr lang="en-US" sz="2600" dirty="0"/>
          </a:p>
        </p:txBody>
      </p:sp>
      <p:sp>
        <p:nvSpPr>
          <p:cNvPr id="3" name="Trait card 1"/>
          <p:cNvSpPr/>
          <p:nvPr/>
        </p:nvSpPr>
        <p:spPr>
          <a:xfrm>
            <a:off x="45720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ait 1 circle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Trai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502359"/>
            <a:ext cx="241402" cy="241402"/>
          </a:xfrm>
          <a:prstGeom prst="rect">
            <a:avLst/>
          </a:prstGeom>
        </p:spPr>
      </p:pic>
      <p:sp>
        <p:nvSpPr>
          <p:cNvPr id="6" name="Trait head 1"/>
          <p:cNvSpPr txBox="1"/>
          <p:nvPr/>
        </p:nvSpPr>
        <p:spPr>
          <a:xfrm>
            <a:off x="123444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出力をそのまま使う</a:t>
            </a:r>
            <a:endParaRPr lang="en-US" sz="1300" dirty="0"/>
          </a:p>
        </p:txBody>
      </p:sp>
      <p:sp>
        <p:nvSpPr>
          <p:cNvPr id="7" name="Trait desc 1"/>
          <p:cNvSpPr txBox="1"/>
          <p:nvPr/>
        </p:nvSpPr>
        <p:spPr>
          <a:xfrm>
            <a:off x="640080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読まずにマージする、動かさずにコミットする。責任は自分にあることを忘れている</a:t>
            </a:r>
            <a:endParaRPr lang="en-US" sz="1100" dirty="0"/>
          </a:p>
        </p:txBody>
      </p:sp>
      <p:sp>
        <p:nvSpPr>
          <p:cNvPr id="8" name="Trait card 2"/>
          <p:cNvSpPr/>
          <p:nvPr/>
        </p:nvSpPr>
        <p:spPr>
          <a:xfrm>
            <a:off x="324612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rait 2 circle"/>
          <p:cNvSpPr/>
          <p:nvPr/>
        </p:nvSpPr>
        <p:spPr>
          <a:xfrm>
            <a:off x="342900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Trai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502359"/>
            <a:ext cx="241402" cy="241402"/>
          </a:xfrm>
          <a:prstGeom prst="rect">
            <a:avLst/>
          </a:prstGeom>
        </p:spPr>
      </p:pic>
      <p:sp>
        <p:nvSpPr>
          <p:cNvPr id="11" name="Trait head 2"/>
          <p:cNvSpPr txBox="1"/>
          <p:nvPr/>
        </p:nvSpPr>
        <p:spPr>
          <a:xfrm>
            <a:off x="402336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判断をAIに委ねる</a:t>
            </a:r>
            <a:endParaRPr lang="en-US" sz="1300" dirty="0"/>
          </a:p>
        </p:txBody>
      </p:sp>
      <p:sp>
        <p:nvSpPr>
          <p:cNvPr id="12" name="Trait desc 2"/>
          <p:cNvSpPr txBox="1"/>
          <p:nvPr/>
        </p:nvSpPr>
        <p:spPr>
          <a:xfrm>
            <a:off x="3429000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設計の選択を「どちらが良いですか」で決め、自分の基準を持たない</a:t>
            </a:r>
            <a:endParaRPr lang="en-US" sz="1100" dirty="0"/>
          </a:p>
        </p:txBody>
      </p:sp>
      <p:sp>
        <p:nvSpPr>
          <p:cNvPr id="13" name="Trait card 3"/>
          <p:cNvSpPr/>
          <p:nvPr/>
        </p:nvSpPr>
        <p:spPr>
          <a:xfrm>
            <a:off x="603504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rait 3 circle"/>
          <p:cNvSpPr/>
          <p:nvPr/>
        </p:nvSpPr>
        <p:spPr>
          <a:xfrm>
            <a:off x="621792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Trai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502359"/>
            <a:ext cx="241402" cy="241402"/>
          </a:xfrm>
          <a:prstGeom prst="rect">
            <a:avLst/>
          </a:prstGeom>
        </p:spPr>
      </p:pic>
      <p:sp>
        <p:nvSpPr>
          <p:cNvPr id="16" name="Trait head 3"/>
          <p:cNvSpPr txBox="1"/>
          <p:nvPr/>
        </p:nvSpPr>
        <p:spPr>
          <a:xfrm>
            <a:off x="681228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質問が一行で終わる</a:t>
            </a:r>
            <a:endParaRPr lang="en-US" sz="1300" dirty="0"/>
          </a:p>
        </p:txBody>
      </p:sp>
      <p:sp>
        <p:nvSpPr>
          <p:cNvPr id="17" name="Trait desc 3"/>
          <p:cNvSpPr txBox="1"/>
          <p:nvPr/>
        </p:nvSpPr>
        <p:spPr>
          <a:xfrm>
            <a:off x="6217920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「いい感じにして」で何が良いかを伝えない。不満があっても直し方が分からない</a:t>
            </a:r>
            <a:endParaRPr lang="en-US" sz="1100" dirty="0"/>
          </a:p>
        </p:txBody>
      </p:sp>
      <p:sp>
        <p:nvSpPr>
          <p:cNvPr id="18" name="Trait card 4"/>
          <p:cNvSpPr/>
          <p:nvPr/>
        </p:nvSpPr>
        <p:spPr>
          <a:xfrm>
            <a:off x="457200" y="292608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rait 4 circle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Trai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239719"/>
            <a:ext cx="241402" cy="241402"/>
          </a:xfrm>
          <a:prstGeom prst="rect">
            <a:avLst/>
          </a:prstGeom>
        </p:spPr>
      </p:pic>
      <p:sp>
        <p:nvSpPr>
          <p:cNvPr id="21" name="Trait head 4"/>
          <p:cNvSpPr txBox="1"/>
          <p:nvPr/>
        </p:nvSpPr>
        <p:spPr>
          <a:xfrm>
            <a:off x="123444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間違いを指摘できない</a:t>
            </a:r>
            <a:endParaRPr lang="en-US" sz="1300" dirty="0"/>
          </a:p>
        </p:txBody>
      </p:sp>
      <p:sp>
        <p:nvSpPr>
          <p:cNvPr id="22" name="Trait desc 4"/>
          <p:cNvSpPr txBox="1"/>
          <p:nvPr/>
        </p:nvSpPr>
        <p:spPr>
          <a:xfrm>
            <a:off x="64008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AIが自信を持って答えると反論できず、自分が正しくても引き下がる</a:t>
            </a:r>
            <a:endParaRPr lang="en-US" sz="1100" dirty="0"/>
          </a:p>
        </p:txBody>
      </p:sp>
      <p:sp>
        <p:nvSpPr>
          <p:cNvPr id="23" name="Trait card 5"/>
          <p:cNvSpPr/>
          <p:nvPr/>
        </p:nvSpPr>
        <p:spPr>
          <a:xfrm>
            <a:off x="3246120" y="292608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rait 5 circle"/>
          <p:cNvSpPr/>
          <p:nvPr/>
        </p:nvSpPr>
        <p:spPr>
          <a:xfrm>
            <a:off x="3429000" y="31089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5" name="Trai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759" y="3239719"/>
            <a:ext cx="241402" cy="241402"/>
          </a:xfrm>
          <a:prstGeom prst="rect">
            <a:avLst/>
          </a:prstGeom>
        </p:spPr>
      </p:pic>
      <p:sp>
        <p:nvSpPr>
          <p:cNvPr id="26" name="Trait head 5"/>
          <p:cNvSpPr txBox="1"/>
          <p:nvPr/>
        </p:nvSpPr>
        <p:spPr>
          <a:xfrm>
            <a:off x="402336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学ぶ機会を手放す</a:t>
            </a:r>
            <a:endParaRPr lang="en-US" sz="1300" dirty="0"/>
          </a:p>
        </p:txBody>
      </p:sp>
      <p:sp>
        <p:nvSpPr>
          <p:cNvPr id="27" name="Trait desc 5"/>
          <p:cNvSpPr txBox="1"/>
          <p:nvPr/>
        </p:nvSpPr>
        <p:spPr>
          <a:xfrm>
            <a:off x="342900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理解せず答えだけ受け取り続け、次も自力で判断できず依存が深まる</a:t>
            </a:r>
            <a:endParaRPr lang="en-US" sz="1100" dirty="0"/>
          </a:p>
        </p:txBody>
      </p:sp>
      <p:sp>
        <p:nvSpPr>
          <p:cNvPr id="28" name="Trait card 6"/>
          <p:cNvSpPr/>
          <p:nvPr/>
        </p:nvSpPr>
        <p:spPr>
          <a:xfrm>
            <a:off x="6035040" y="292608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rait 6 circle"/>
          <p:cNvSpPr/>
          <p:nvPr/>
        </p:nvSpPr>
        <p:spPr>
          <a:xfrm>
            <a:off x="6217920" y="31089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Trait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8679" y="3239719"/>
            <a:ext cx="241402" cy="241402"/>
          </a:xfrm>
          <a:prstGeom prst="rect">
            <a:avLst/>
          </a:prstGeom>
        </p:spPr>
      </p:pic>
      <p:sp>
        <p:nvSpPr>
          <p:cNvPr id="31" name="Trait head 6"/>
          <p:cNvSpPr txBox="1"/>
          <p:nvPr/>
        </p:nvSpPr>
        <p:spPr>
          <a:xfrm>
            <a:off x="681228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限界を知らない</a:t>
            </a:r>
            <a:endParaRPr lang="en-US" sz="1300" dirty="0"/>
          </a:p>
        </p:txBody>
      </p:sp>
      <p:sp>
        <p:nvSpPr>
          <p:cNvPr id="32" name="Trait desc 6"/>
          <p:cNvSpPr txBox="1"/>
          <p:nvPr/>
        </p:nvSpPr>
        <p:spPr>
          <a:xfrm>
            <a:off x="621792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知識の時点、境界条件の弱さ、存在しないAPIの捏造を知らないまま使う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知っておくべきAIの4つの限界</a:t>
            </a:r>
            <a:endParaRPr lang="en-US" sz="2600" dirty="0"/>
          </a:p>
        </p:txBody>
      </p:sp>
      <p:sp>
        <p:nvSpPr>
          <p:cNvPr id="3" name="Limit card 1"/>
          <p:cNvSpPr/>
          <p:nvPr/>
        </p:nvSpPr>
        <p:spPr>
          <a:xfrm>
            <a:off x="45720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it 1 circle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Limi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571854"/>
            <a:ext cx="285293" cy="285293"/>
          </a:xfrm>
          <a:prstGeom prst="rect">
            <a:avLst/>
          </a:prstGeom>
        </p:spPr>
      </p:pic>
      <p:sp>
        <p:nvSpPr>
          <p:cNvPr id="6" name="Limit head 1"/>
          <p:cNvSpPr txBox="1"/>
          <p:nvPr/>
        </p:nvSpPr>
        <p:spPr>
          <a:xfrm>
            <a:off x="68580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知識には時点がある</a:t>
            </a:r>
            <a:endParaRPr lang="en-US" sz="1300" dirty="0"/>
          </a:p>
        </p:txBody>
      </p:sp>
      <p:sp>
        <p:nvSpPr>
          <p:cNvPr id="7" name="Limit desc 1"/>
          <p:cNvSpPr txBox="1"/>
          <p:nvPr/>
        </p:nvSpPr>
        <p:spPr>
          <a:xfrm>
            <a:off x="68580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学習データには締め切りがある。ライブラリの最新版や社内の規約は、渡さなければ知らない</a:t>
            </a:r>
            <a:endParaRPr lang="en-US" sz="1100" dirty="0"/>
          </a:p>
        </p:txBody>
      </p:sp>
      <p:sp>
        <p:nvSpPr>
          <p:cNvPr id="8" name="Limit card 2"/>
          <p:cNvSpPr/>
          <p:nvPr/>
        </p:nvSpPr>
        <p:spPr>
          <a:xfrm>
            <a:off x="256032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it 2 circle"/>
          <p:cNvSpPr/>
          <p:nvPr/>
        </p:nvSpPr>
        <p:spPr>
          <a:xfrm>
            <a:off x="278892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Limi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454" y="1571854"/>
            <a:ext cx="285293" cy="285293"/>
          </a:xfrm>
          <a:prstGeom prst="rect">
            <a:avLst/>
          </a:prstGeom>
        </p:spPr>
      </p:pic>
      <p:sp>
        <p:nvSpPr>
          <p:cNvPr id="11" name="Limit head 2"/>
          <p:cNvSpPr txBox="1"/>
          <p:nvPr/>
        </p:nvSpPr>
        <p:spPr>
          <a:xfrm>
            <a:off x="278892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もっともらしい捏造</a:t>
            </a:r>
            <a:endParaRPr lang="en-US" sz="1300" dirty="0"/>
          </a:p>
        </p:txBody>
      </p:sp>
      <p:sp>
        <p:nvSpPr>
          <p:cNvPr id="12" name="Limit desc 2"/>
          <p:cNvSpPr txBox="1"/>
          <p:nvPr/>
        </p:nvSpPr>
        <p:spPr>
          <a:xfrm>
            <a:off x="278892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存在しないAPIやオプションを自信満々に出すことがある。「テスト済み」の断定も証拠にならない</a:t>
            </a:r>
            <a:endParaRPr lang="en-US" sz="1100" dirty="0"/>
          </a:p>
        </p:txBody>
      </p:sp>
      <p:sp>
        <p:nvSpPr>
          <p:cNvPr id="13" name="Limit card 3"/>
          <p:cNvSpPr/>
          <p:nvPr/>
        </p:nvSpPr>
        <p:spPr>
          <a:xfrm>
            <a:off x="466344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mit 3 circle"/>
          <p:cNvSpPr/>
          <p:nvPr/>
        </p:nvSpPr>
        <p:spPr>
          <a:xfrm>
            <a:off x="489204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Limi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574" y="1571854"/>
            <a:ext cx="285293" cy="285293"/>
          </a:xfrm>
          <a:prstGeom prst="rect">
            <a:avLst/>
          </a:prstGeom>
        </p:spPr>
      </p:pic>
      <p:sp>
        <p:nvSpPr>
          <p:cNvPr id="16" name="Limit head 3"/>
          <p:cNvSpPr txBox="1"/>
          <p:nvPr/>
        </p:nvSpPr>
        <p:spPr>
          <a:xfrm>
            <a:off x="489204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細部を間違える</a:t>
            </a:r>
            <a:endParaRPr lang="en-US" sz="1300" dirty="0"/>
          </a:p>
        </p:txBody>
      </p:sp>
      <p:sp>
        <p:nvSpPr>
          <p:cNvPr id="17" name="Limit desc 3"/>
          <p:cNvSpPr txBox="1"/>
          <p:nvPr/>
        </p:nvSpPr>
        <p:spPr>
          <a:xfrm>
            <a:off x="489204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境界値、オフバイワン、件数の集計は間違えやすい。テストと仕様の照合で確かめる</a:t>
            </a:r>
            <a:endParaRPr lang="en-US" sz="1100" dirty="0"/>
          </a:p>
        </p:txBody>
      </p:sp>
      <p:sp>
        <p:nvSpPr>
          <p:cNvPr id="18" name="Limit card 4"/>
          <p:cNvSpPr/>
          <p:nvPr/>
        </p:nvSpPr>
        <p:spPr>
          <a:xfrm>
            <a:off x="676656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Limit 4 circle"/>
          <p:cNvSpPr/>
          <p:nvPr/>
        </p:nvSpPr>
        <p:spPr>
          <a:xfrm>
            <a:off x="699516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Limi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94" y="1571854"/>
            <a:ext cx="285293" cy="285293"/>
          </a:xfrm>
          <a:prstGeom prst="rect">
            <a:avLst/>
          </a:prstGeom>
        </p:spPr>
      </p:pic>
      <p:sp>
        <p:nvSpPr>
          <p:cNvPr id="21" name="Limit head 4"/>
          <p:cNvSpPr txBox="1"/>
          <p:nvPr/>
        </p:nvSpPr>
        <p:spPr>
          <a:xfrm>
            <a:off x="699516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状況を知らない</a:t>
            </a:r>
            <a:endParaRPr lang="en-US" sz="1300" dirty="0"/>
          </a:p>
        </p:txBody>
      </p:sp>
      <p:sp>
        <p:nvSpPr>
          <p:cNvPr id="22" name="Limit desc 4"/>
          <p:cNvSpPr txBox="1"/>
          <p:nvPr/>
        </p:nvSpPr>
        <p:spPr>
          <a:xfrm>
            <a:off x="699516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本番のログ、過去の経緯、暗黙の前提は見えていない。助言はその前提で聞く</a:t>
            </a:r>
            <a:endParaRPr lang="en-US" sz="1100" dirty="0"/>
          </a:p>
        </p:txBody>
      </p:sp>
      <p:sp>
        <p:nvSpPr>
          <p:cNvPr id="23" name="Limit takeaway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限界を知っている人だけが、出力を疑うことができる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03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診断課題・演習・まとめ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診断課題：Claudeを使わず、紙で判断する</a:t>
            </a:r>
            <a:endParaRPr lang="en-US" sz="2600" dirty="0"/>
          </a:p>
        </p:txBody>
      </p:sp>
      <p:sp>
        <p:nvSpPr>
          <p:cNvPr id="3" name="Task card 1"/>
          <p:cNvSpPr/>
          <p:nvPr/>
        </p:nvSpPr>
        <p:spPr>
          <a:xfrm>
            <a:off x="45720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ask 1 circle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Tas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502359"/>
            <a:ext cx="241402" cy="241402"/>
          </a:xfrm>
          <a:prstGeom prst="rect">
            <a:avLst/>
          </a:prstGeom>
        </p:spPr>
      </p:pic>
      <p:sp>
        <p:nvSpPr>
          <p:cNvPr id="6" name="Task head 1"/>
          <p:cNvSpPr txBox="1"/>
          <p:nvPr/>
        </p:nvSpPr>
        <p:spPr>
          <a:xfrm>
            <a:off x="123444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課題A　レビュー</a:t>
            </a:r>
            <a:endParaRPr lang="en-US" sz="1300" dirty="0"/>
          </a:p>
        </p:txBody>
      </p:sp>
      <p:sp>
        <p:nvSpPr>
          <p:cNvPr id="7" name="Task what 1"/>
          <p:cNvSpPr txBox="1"/>
          <p:nvPr/>
        </p:nvSpPr>
        <p:spPr>
          <a:xfrm>
            <a:off x="64008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Claudeが実装したコードと説明を仕様と照合し、マージ可否を判断する</a:t>
            </a:r>
            <a:endParaRPr lang="en-US" sz="1150" dirty="0"/>
          </a:p>
        </p:txBody>
      </p:sp>
      <p:sp>
        <p:nvSpPr>
          <p:cNvPr id="8" name="Task obs 1"/>
          <p:cNvSpPr txBox="1"/>
          <p:nvPr/>
        </p:nvSpPr>
        <p:spPr>
          <a:xfrm>
            <a:off x="640080" y="2788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見る行動　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仕込んだ3つの仕様違反に気づくか。「テスト済み」の主張を鵜呑みにしないか</a:t>
            </a:r>
            <a:endParaRPr lang="en-US" sz="1100" dirty="0"/>
          </a:p>
        </p:txBody>
      </p:sp>
      <p:sp>
        <p:nvSpPr>
          <p:cNvPr id="9" name="Task card 2"/>
          <p:cNvSpPr/>
          <p:nvPr/>
        </p:nvSpPr>
        <p:spPr>
          <a:xfrm>
            <a:off x="324612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ask 2 circle"/>
          <p:cNvSpPr/>
          <p:nvPr/>
        </p:nvSpPr>
        <p:spPr>
          <a:xfrm>
            <a:off x="34290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Tas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502359"/>
            <a:ext cx="241402" cy="241402"/>
          </a:xfrm>
          <a:prstGeom prst="rect">
            <a:avLst/>
          </a:prstGeom>
        </p:spPr>
      </p:pic>
      <p:sp>
        <p:nvSpPr>
          <p:cNvPr id="12" name="Task head 2"/>
          <p:cNvSpPr txBox="1"/>
          <p:nvPr/>
        </p:nvSpPr>
        <p:spPr>
          <a:xfrm>
            <a:off x="402336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課題B　依頼文</a:t>
            </a:r>
            <a:endParaRPr lang="en-US" sz="1300" dirty="0"/>
          </a:p>
        </p:txBody>
      </p:sp>
      <p:sp>
        <p:nvSpPr>
          <p:cNvPr id="13" name="Task what 2"/>
          <p:cNvSpPr txBox="1"/>
          <p:nvPr/>
        </p:nvSpPr>
        <p:spPr>
          <a:xfrm>
            <a:off x="342900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CSV出力機能を実装させるための、Claudeへの最初の依頼文を書く</a:t>
            </a:r>
            <a:endParaRPr lang="en-US" sz="1150" dirty="0"/>
          </a:p>
        </p:txBody>
      </p:sp>
      <p:sp>
        <p:nvSpPr>
          <p:cNvPr id="14" name="Task obs 2"/>
          <p:cNvSpPr txBox="1"/>
          <p:nvPr/>
        </p:nvSpPr>
        <p:spPr>
          <a:xfrm>
            <a:off x="3429000" y="2788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見る行動　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依頼文に目的・文脈・制約が入っているか</a:t>
            </a:r>
            <a:endParaRPr lang="en-US" sz="1100" dirty="0"/>
          </a:p>
        </p:txBody>
      </p:sp>
      <p:sp>
        <p:nvSpPr>
          <p:cNvPr id="15" name="Task card 3"/>
          <p:cNvSpPr/>
          <p:nvPr/>
        </p:nvSpPr>
        <p:spPr>
          <a:xfrm>
            <a:off x="603504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ask 3 circle"/>
          <p:cNvSpPr/>
          <p:nvPr/>
        </p:nvSpPr>
        <p:spPr>
          <a:xfrm>
            <a:off x="62179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Tas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502359"/>
            <a:ext cx="241402" cy="241402"/>
          </a:xfrm>
          <a:prstGeom prst="rect">
            <a:avLst/>
          </a:prstGeom>
        </p:spPr>
      </p:pic>
      <p:sp>
        <p:nvSpPr>
          <p:cNvPr id="18" name="Task head 3"/>
          <p:cNvSpPr txBox="1"/>
          <p:nvPr/>
        </p:nvSpPr>
        <p:spPr>
          <a:xfrm>
            <a:off x="681228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課題C　判断</a:t>
            </a:r>
            <a:endParaRPr lang="en-US" sz="1300" dirty="0"/>
          </a:p>
        </p:txBody>
      </p:sp>
      <p:sp>
        <p:nvSpPr>
          <p:cNvPr id="19" name="Task what 3"/>
          <p:cNvSpPr txBox="1"/>
          <p:nvPr/>
        </p:nvSpPr>
        <p:spPr>
          <a:xfrm>
            <a:off x="621792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本番障害についてのClaudeの提案を採用するか、事実をもとに判断する</a:t>
            </a:r>
            <a:endParaRPr lang="en-US" sz="1150" dirty="0"/>
          </a:p>
        </p:txBody>
      </p:sp>
      <p:sp>
        <p:nvSpPr>
          <p:cNvPr id="20" name="Task obs 3"/>
          <p:cNvSpPr txBox="1"/>
          <p:nvPr/>
        </p:nvSpPr>
        <p:spPr>
          <a:xfrm>
            <a:off x="6217920" y="2788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見る行動　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状況を知らないClaudeの一般論を、手元の事実で修正できるか</a:t>
            </a:r>
            <a:endParaRPr lang="en-US" sz="1100" dirty="0"/>
          </a:p>
        </p:txBody>
      </p:sp>
      <p:sp>
        <p:nvSpPr>
          <p:cNvPr id="21" name="Task info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ask info text"/>
          <p:cNvSpPr txBox="1"/>
          <p:nvPr/>
        </p:nvSpPr>
        <p:spPr>
          <a:xfrm>
            <a:off x="685800" y="3886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提出物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指摘とマージ可否／Claudeへの依頼文／設定変更への賛否と理由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所要時間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30分（A 12分、B 10分、C 5分、見直し3分）。資料と筆記用具のみで、普段のレビューと同じ感覚で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採点：8つの行動チェック</a:t>
            </a:r>
            <a:endParaRPr lang="en-US" sz="2600" dirty="0"/>
          </a:p>
        </p:txBody>
      </p:sp>
      <p:graphicFrame>
        <p:nvGraphicFramePr>
          <p:cNvPr id="14" name="Checkli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2120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項目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見る行動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仕込んだ仕様違反を2個以上指摘した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指摘の根拠として仕様の項目を挙げた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「修正が必要」と判断した（「テスト済み」を鵜呑みにしない）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依頼文に目的（誰に、何のため）がある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依頼文に文脈（技術スタック、既存API、データ量）がある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依頼文に制約（個人情報、規約、テスト、差分）がある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本番の設定変更に反対、または保留した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根拠として手元の事実（1ユーザーのみ、住所未登録）を挙げた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and card 1"/>
          <p:cNvSpPr/>
          <p:nvPr/>
        </p:nvSpPr>
        <p:spPr>
          <a:xfrm>
            <a:off x="5943600" y="118872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nd num 1"/>
          <p:cNvSpPr txBox="1"/>
          <p:nvPr/>
        </p:nvSpPr>
        <p:spPr>
          <a:xfrm>
            <a:off x="612648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6個以上</a:t>
            </a:r>
            <a:endParaRPr lang="en-US" sz="1500" dirty="0"/>
          </a:p>
        </p:txBody>
      </p:sp>
      <p:sp>
        <p:nvSpPr>
          <p:cNvPr id="6" name="Band desc 1"/>
          <p:cNvSpPr txBox="1"/>
          <p:nvPr/>
        </p:nvSpPr>
        <p:spPr>
          <a:xfrm>
            <a:off x="6126480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AIを使う人の傾向</a:t>
            </a:r>
            <a:endParaRPr lang="en-US" sz="1050" dirty="0"/>
          </a:p>
        </p:txBody>
      </p:sp>
      <p:sp>
        <p:nvSpPr>
          <p:cNvPr id="7" name="Band card 2"/>
          <p:cNvSpPr/>
          <p:nvPr/>
        </p:nvSpPr>
        <p:spPr>
          <a:xfrm>
            <a:off x="5943600" y="219456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and num 2"/>
          <p:cNvSpPr txBox="1"/>
          <p:nvPr/>
        </p:nvSpPr>
        <p:spPr>
          <a:xfrm>
            <a:off x="6126480" y="2286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3〜5個</a:t>
            </a:r>
            <a:endParaRPr lang="en-US" sz="1500" dirty="0"/>
          </a:p>
        </p:txBody>
      </p:sp>
      <p:sp>
        <p:nvSpPr>
          <p:cNvPr id="9" name="Band desc 2"/>
          <p:cNvSpPr txBox="1"/>
          <p:nvPr/>
        </p:nvSpPr>
        <p:spPr>
          <a:xfrm>
            <a:off x="6126480" y="2606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中間。×が集中した区分を本人に伝える</a:t>
            </a:r>
            <a:endParaRPr lang="en-US" sz="1050" dirty="0"/>
          </a:p>
        </p:txBody>
      </p:sp>
      <p:sp>
        <p:nvSpPr>
          <p:cNvPr id="10" name="Band card 3"/>
          <p:cNvSpPr/>
          <p:nvPr/>
        </p:nvSpPr>
        <p:spPr>
          <a:xfrm>
            <a:off x="5943600" y="320040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nd num 3"/>
          <p:cNvSpPr txBox="1"/>
          <p:nvPr/>
        </p:nvSpPr>
        <p:spPr>
          <a:xfrm>
            <a:off x="6126480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2個以下</a:t>
            </a:r>
            <a:endParaRPr lang="en-US" sz="1500" dirty="0"/>
          </a:p>
        </p:txBody>
      </p:sp>
      <p:sp>
        <p:nvSpPr>
          <p:cNvPr id="12" name="Band desc 3"/>
          <p:cNvSpPr txBox="1"/>
          <p:nvPr/>
        </p:nvSpPr>
        <p:spPr>
          <a:xfrm>
            <a:off x="6126480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AIに使われる人の傾向。まず種明かしで体感してもらう</a:t>
            </a:r>
            <a:endParaRPr lang="en-US" sz="1050" dirty="0"/>
          </a:p>
        </p:txBody>
      </p:sp>
      <p:sp>
        <p:nvSpPr>
          <p:cNvPr id="13" name="Scoring note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結果は「タイプ」ではなく「今の傾向」として返す。ラベルを貼ると防御反応が出て、講義が入らなくなる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演習：同じ課題を2通りの指示で試す</a:t>
            </a:r>
            <a:endParaRPr lang="en-US" sz="2600" dirty="0"/>
          </a:p>
        </p:txBody>
      </p:sp>
      <p:sp>
        <p:nvSpPr>
          <p:cNvPr id="3" name="Step card 1"/>
          <p:cNvSpPr/>
          <p:nvPr/>
        </p:nvSpPr>
        <p:spPr>
          <a:xfrm>
            <a:off x="457200" y="1188720"/>
            <a:ext cx="25146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circle 1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tep num 1"/>
          <p:cNvSpPr txBox="1"/>
          <p:nvPr/>
        </p:nvSpPr>
        <p:spPr>
          <a:xfrm>
            <a:off x="68580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tep head 1"/>
          <p:cNvSpPr txBox="1"/>
          <p:nvPr/>
        </p:nvSpPr>
        <p:spPr>
          <a:xfrm>
            <a:off x="685800" y="2148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一行で頼む</a:t>
            </a:r>
            <a:endParaRPr lang="en-US" sz="1400" dirty="0"/>
          </a:p>
        </p:txBody>
      </p:sp>
      <p:sp>
        <p:nvSpPr>
          <p:cNvPr id="7" name="Step desc 1"/>
          <p:cNvSpPr txBox="1"/>
          <p:nvPr/>
        </p:nvSpPr>
        <p:spPr>
          <a:xfrm>
            <a:off x="685800" y="27432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まず「いい感じに」のような短い指示で出力を得る</a:t>
            </a:r>
            <a:endParaRPr lang="en-US" sz="1150" dirty="0"/>
          </a:p>
        </p:txBody>
      </p:sp>
      <p:pic>
        <p:nvPicPr>
          <p:cNvPr id="8" name="Step arrow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2057400"/>
            <a:ext cx="256032" cy="256032"/>
          </a:xfrm>
          <a:prstGeom prst="rect">
            <a:avLst/>
          </a:prstGeom>
        </p:spPr>
      </p:pic>
      <p:sp>
        <p:nvSpPr>
          <p:cNvPr id="9" name="Step card 2"/>
          <p:cNvSpPr/>
          <p:nvPr/>
        </p:nvSpPr>
        <p:spPr>
          <a:xfrm>
            <a:off x="3314700" y="1188720"/>
            <a:ext cx="25146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circle 2"/>
          <p:cNvSpPr/>
          <p:nvPr/>
        </p:nvSpPr>
        <p:spPr>
          <a:xfrm>
            <a:off x="3543300" y="1417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 num 2"/>
          <p:cNvSpPr txBox="1"/>
          <p:nvPr/>
        </p:nvSpPr>
        <p:spPr>
          <a:xfrm>
            <a:off x="354330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Step head 2"/>
          <p:cNvSpPr txBox="1"/>
          <p:nvPr/>
        </p:nvSpPr>
        <p:spPr>
          <a:xfrm>
            <a:off x="3543300" y="2148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目的・文脈・制約を添えて頼む</a:t>
            </a:r>
            <a:endParaRPr lang="en-US" sz="1400" dirty="0"/>
          </a:p>
        </p:txBody>
      </p:sp>
      <p:sp>
        <p:nvSpPr>
          <p:cNvPr id="13" name="Step desc 2"/>
          <p:cNvSpPr txBox="1"/>
          <p:nvPr/>
        </p:nvSpPr>
        <p:spPr>
          <a:xfrm>
            <a:off x="3543300" y="27432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誰向けか、何に使うか、長さや形式の条件を書いて同じ課題を頼む</a:t>
            </a:r>
            <a:endParaRPr lang="en-US" sz="1150" dirty="0"/>
          </a:p>
        </p:txBody>
      </p:sp>
      <p:pic>
        <p:nvPicPr>
          <p:cNvPr id="14" name="Step arrow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057400"/>
            <a:ext cx="256032" cy="256032"/>
          </a:xfrm>
          <a:prstGeom prst="rect">
            <a:avLst/>
          </a:prstGeom>
        </p:spPr>
      </p:pic>
      <p:sp>
        <p:nvSpPr>
          <p:cNvPr id="15" name="Step card 3"/>
          <p:cNvSpPr/>
          <p:nvPr/>
        </p:nvSpPr>
        <p:spPr>
          <a:xfrm>
            <a:off x="6172200" y="1188720"/>
            <a:ext cx="25146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 circle 3"/>
          <p:cNvSpPr/>
          <p:nvPr/>
        </p:nvSpPr>
        <p:spPr>
          <a:xfrm>
            <a:off x="6400800" y="1417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tep num 3"/>
          <p:cNvSpPr txBox="1"/>
          <p:nvPr/>
        </p:nvSpPr>
        <p:spPr>
          <a:xfrm>
            <a:off x="640080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Step head 3"/>
          <p:cNvSpPr txBox="1"/>
          <p:nvPr/>
        </p:nvSpPr>
        <p:spPr>
          <a:xfrm>
            <a:off x="6400800" y="2148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並べて比べ、違いを言葉にする</a:t>
            </a:r>
            <a:endParaRPr lang="en-US" sz="1400" dirty="0"/>
          </a:p>
        </p:txBody>
      </p:sp>
      <p:sp>
        <p:nvSpPr>
          <p:cNvPr id="19" name="Step desc 3"/>
          <p:cNvSpPr txBox="1"/>
          <p:nvPr/>
        </p:nvSpPr>
        <p:spPr>
          <a:xfrm>
            <a:off x="6400800" y="27432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どこが変わったか、なぜ変わったかを自分の言葉で説明する</a:t>
            </a:r>
            <a:endParaRPr lang="en-US" sz="1150" dirty="0"/>
          </a:p>
        </p:txBody>
      </p:sp>
      <p:sp>
        <p:nvSpPr>
          <p:cNvPr id="20" name="Exercise info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Exercise text"/>
          <p:cNvSpPr txBox="1"/>
          <p:nvPr/>
        </p:nvSpPr>
        <p:spPr>
          <a:xfrm>
            <a:off x="685800" y="3657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課題例　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「このバッチ処理に、失敗時のリトライを追加して」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所要時間　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15分（各5分）。終了後、隣の人と結果を見せ合う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mmary title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明日からできる3つのこと</a:t>
            </a:r>
            <a:endParaRPr lang="en-US" sz="3000" dirty="0"/>
          </a:p>
        </p:txBody>
      </p:sp>
      <p:sp>
        <p:nvSpPr>
          <p:cNvPr id="3" name="Act circle 1"/>
          <p:cNvSpPr/>
          <p:nvPr/>
        </p:nvSpPr>
        <p:spPr>
          <a:xfrm>
            <a:off x="64008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Act num 1"/>
          <p:cNvSpPr txBox="1"/>
          <p:nvPr/>
        </p:nvSpPr>
        <p:spPr>
          <a:xfrm>
            <a:off x="6400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Act head 1"/>
          <p:cNvSpPr txBox="1"/>
          <p:nvPr/>
        </p:nvSpPr>
        <p:spPr>
          <a:xfrm>
            <a:off x="1417320" y="1325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頼む前に、目的を一文で書く</a:t>
            </a:r>
            <a:endParaRPr lang="en-US" sz="1800" dirty="0"/>
          </a:p>
        </p:txBody>
      </p:sp>
      <p:sp>
        <p:nvSpPr>
          <p:cNvPr id="6" name="Act sub 1"/>
          <p:cNvSpPr txBox="1"/>
          <p:nvPr/>
        </p:nvSpPr>
        <p:spPr>
          <a:xfrm>
            <a:off x="1417320" y="1691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誰のために、何を、どこまで</a:t>
            </a:r>
            <a:endParaRPr lang="en-US" sz="1200" dirty="0"/>
          </a:p>
        </p:txBody>
      </p:sp>
      <p:sp>
        <p:nvSpPr>
          <p:cNvPr id="7" name="Act circle 2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ct num 2"/>
          <p:cNvSpPr txBox="1"/>
          <p:nvPr/>
        </p:nvSpPr>
        <p:spPr>
          <a:xfrm>
            <a:off x="6400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Act head 2"/>
          <p:cNvSpPr txBox="1"/>
          <p:nvPr/>
        </p:nvSpPr>
        <p:spPr>
          <a:xfrm>
            <a:off x="1417320" y="2194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出力は必ず自分で確かめる</a:t>
            </a:r>
            <a:endParaRPr lang="en-US" sz="1800" dirty="0"/>
          </a:p>
        </p:txBody>
      </p:sp>
      <p:sp>
        <p:nvSpPr>
          <p:cNvPr id="10" name="Act sub 2"/>
          <p:cNvSpPr txBox="1"/>
          <p:nvPr/>
        </p:nvSpPr>
        <p:spPr>
          <a:xfrm>
            <a:off x="141732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動かす、テストを書く、仕様と照合する</a:t>
            </a:r>
            <a:endParaRPr lang="en-US" sz="1200" dirty="0"/>
          </a:p>
        </p:txBody>
      </p:sp>
      <p:sp>
        <p:nvSpPr>
          <p:cNvPr id="11" name="Act circle 3"/>
          <p:cNvSpPr/>
          <p:nvPr/>
        </p:nvSpPr>
        <p:spPr>
          <a:xfrm>
            <a:off x="640080" y="3108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Act num 3"/>
          <p:cNvSpPr txBox="1"/>
          <p:nvPr/>
        </p:nvSpPr>
        <p:spPr>
          <a:xfrm>
            <a:off x="6400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Act head 3"/>
          <p:cNvSpPr txBox="1"/>
          <p:nvPr/>
        </p:nvSpPr>
        <p:spPr>
          <a:xfrm>
            <a:off x="1417320" y="3063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一回で終わらせず、直して頼み直す</a:t>
            </a:r>
            <a:endParaRPr lang="en-US" sz="1800" dirty="0"/>
          </a:p>
        </p:txBody>
      </p:sp>
      <p:sp>
        <p:nvSpPr>
          <p:cNvPr id="14" name="Act sub 3"/>
          <p:cNvSpPr txBox="1"/>
          <p:nvPr/>
        </p:nvSpPr>
        <p:spPr>
          <a:xfrm>
            <a:off x="1417320" y="3429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対話は編集作業</a:t>
            </a:r>
            <a:endParaRPr lang="en-US" sz="1200" dirty="0"/>
          </a:p>
        </p:txBody>
      </p:sp>
      <p:sp>
        <p:nvSpPr>
          <p:cNvPr id="15" name="Closing line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AIを使う人は、問いと検証を自分で持っている。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640080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ude Skills Lecture">
  <a:themeElements>
    <a:clrScheme name="Claude Skills Lecture">
      <a:dk1>
        <a:srgbClr val="1C2B33"/>
      </a:dk1>
      <a:lt1>
        <a:srgbClr val="FFFFFF"/>
      </a:lt1>
      <a:dk2>
        <a:srgbClr val="0F4C5C"/>
      </a:dk2>
      <a:lt2>
        <a:srgbClr val="EEF4F5"/>
      </a:lt2>
      <a:accent1>
        <a:srgbClr val="E36414"/>
      </a:accent1>
      <a:accent2>
        <a:srgbClr val="2A9D8F"/>
      </a:accent2>
      <a:accent3>
        <a:srgbClr val="B23A48"/>
      </a:accent3>
      <a:accent4>
        <a:srgbClr val="5C6B73"/>
      </a:accent4>
      <a:accent5>
        <a:srgbClr val="F6D8C3"/>
      </a:accent5>
      <a:accent6>
        <a:srgbClr val="C9DEE2"/>
      </a:accent6>
      <a:hlink>
        <a:srgbClr val="E36414"/>
      </a:hlink>
      <a:folHlink>
        <a:srgbClr val="9A3B3B"/>
      </a:folHlink>
    </a:clrScheme>
    <a:fontScheme name="Claude Skills Lecture">
      <a:majorFont>
        <a:latin typeface="Meiryo"/>
        <a:ea typeface="Meiryo"/>
        <a:cs typeface=""/>
        <a:font script="Jpan" typeface="Meiryo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Meiryo"/>
        <a:cs typeface=""/>
        <a:font script="Jpan" typeface="Meiryo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Claudeを使いこなすために必要なスキル</dc:title>
  <dc:subject>PptxGenJS Presentation</dc:subject>
  <dc:creator>講義資料</dc:creator>
  <cp:lastModifiedBy>講義資料</cp:lastModifiedBy>
  <cp:revision>1</cp:revision>
  <dcterms:created xsi:type="dcterms:W3CDTF">2026-10-28T06:02:29Z</dcterms:created>
  <dcterms:modified xsi:type="dcterms:W3CDTF">2026-10-28T06:02:29Z</dcterms:modified>
</cp:coreProperties>
</file>