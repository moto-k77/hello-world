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13fcf11d-1747-3494-ba20-0b683cb669af}">
          <p14:sldIdLst>
            <p14:sldId id="256"/>
            <p14:sldId id="257"/>
            <p14:sldId id="258"/>
          </p14:sldIdLst>
        </p14:section>
        <p14:section name="6つのスキル" id="{d35e7b7f-30c1-0dad-a23a-22af9edeea3a}">
          <p14:sldIdLst>
            <p14:sldId id="259"/>
            <p14:sldId id="260"/>
            <p14:sldId id="261"/>
            <p14:sldId id="262"/>
          </p14:sldIdLst>
        </p14:section>
        <p14:section name="使われる人の特徴" id="{0a8a9ce2-c39b-cc2b-7d0e-a51b05dc3861}">
          <p14:sldIdLst>
            <p14:sldId id="263"/>
            <p14:sldId id="264"/>
            <p14:sldId id="265"/>
          </p14:sldIdLst>
        </p14:section>
        <p14:section name="演習とまとめ" id="{94b9bb98-f7eb-4aad-7b92-2978fce28168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本日のテーマはAIツール、特にClaudeを「使いこなす」とはどういうことか。道具の性能ではなく、使う側のスキルと姿勢で成果が決まることを伝える。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4部構成。前半で考え方の軸を示し、後半で具体的なスキルと落とし穴、最後に演習で体感してもらう。所要時間の目安は60分。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この対比が講義全体の軸。以降のスキルも落とし穴も、すべてこの一点に集約されることを先に伝える。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セクション1。6つのスキルを3つずつ2枚で紹介する。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「新入社員に仕事を頼む」と同じ、と説明すると伝わりやすい。目的と文脈がない依頼は人間相手でも失敗する。検証は最も軽視されがちだが最も重要。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4〜6は一朝一夕には身につかないが、意識するだけで変わる。特に「やり直し」は心理的ハードルが低いので、すぐ実践を促す。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実際に両方を講義中にデモすると効果が高い。右側の指示には「目的（役員会の事前資料）」「文脈（決定・未決）」「制約（3行以内、専門用語なし）」が入っていることを指し示す。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セクション2。誰にでも当てはまる瞬間がある、と前置きして受講者の防御反応を下げる。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6つの特徴は、前のセクションの6つのスキルの裏返し。どれか一つでも心当たりがあれば、それが改善の入口になる。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限界は「使わない理由」ではなく「どう使うかの指針」。検証が必要な場面を事前に見分けられるようになることが狙い。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セクション3。演習は15分、まとめは5分を目安に。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演習のポイントは3番目のステップ。差が「見える」だけでなく「言語化できる」ことで、次の依頼から自分で再現できるようになる。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最後に講義冒頭の軸に戻って締める。3つの行動はどれも今日から実践できるものに絞っている。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0574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Claudeを使いこなすスキル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Claudeを使いこなすために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必要なスキル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AIを使う人、AIに使われる人</a:t>
            </a:r>
            <a:endParaRPr lang="en-US" sz="1800" dirty="0"/>
          </a:p>
        </p:txBody>
      </p:sp>
      <p:sp>
        <p:nvSpPr>
          <p:cNvPr id="4" name="Robot circle"/>
          <p:cNvSpPr/>
          <p:nvPr/>
        </p:nvSpPr>
        <p:spPr>
          <a:xfrm>
            <a:off x="7223760" y="54864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ob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827" y="857707"/>
            <a:ext cx="570586" cy="570586"/>
          </a:xfrm>
          <a:prstGeom prst="rect">
            <a:avLst/>
          </a:prstGeom>
        </p:spPr>
      </p:pic>
      <p:sp>
        <p:nvSpPr>
          <p:cNvPr id="6" name="Credit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社内講義資料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本日の内容</a:t>
            </a:r>
            <a:endParaRPr lang="en-US" sz="2600" dirty="0"/>
          </a:p>
        </p:txBody>
      </p:sp>
      <p:sp>
        <p:nvSpPr>
          <p:cNvPr id="3" name="Agenda card 01"/>
          <p:cNvSpPr/>
          <p:nvPr/>
        </p:nvSpPr>
        <p:spPr>
          <a:xfrm>
            <a:off x="457200" y="132588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genda 01 circle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genda 0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766621"/>
            <a:ext cx="307238" cy="307238"/>
          </a:xfrm>
          <a:prstGeom prst="rect">
            <a:avLst/>
          </a:prstGeom>
        </p:spPr>
      </p:pic>
      <p:sp>
        <p:nvSpPr>
          <p:cNvPr id="6" name="Agenda num 01"/>
          <p:cNvSpPr txBox="1"/>
          <p:nvPr/>
        </p:nvSpPr>
        <p:spPr>
          <a:xfrm>
            <a:off x="1463040" y="1600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Agenda head 01"/>
          <p:cNvSpPr txBox="1"/>
          <p:nvPr/>
        </p:nvSpPr>
        <p:spPr>
          <a:xfrm>
            <a:off x="68580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一つの軸</a:t>
            </a:r>
            <a:endParaRPr lang="en-US" sz="1600" dirty="0"/>
          </a:p>
        </p:txBody>
      </p:sp>
      <p:sp>
        <p:nvSpPr>
          <p:cNvPr id="8" name="Agenda desc 01"/>
          <p:cNvSpPr txBox="1"/>
          <p:nvPr/>
        </p:nvSpPr>
        <p:spPr>
          <a:xfrm>
            <a:off x="685800" y="2926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「使う人」と「使われる人」の違いはどこにあるか</a:t>
            </a:r>
            <a:endParaRPr lang="en-US" sz="1200" dirty="0"/>
          </a:p>
        </p:txBody>
      </p:sp>
      <p:sp>
        <p:nvSpPr>
          <p:cNvPr id="9" name="Agenda card 02"/>
          <p:cNvSpPr/>
          <p:nvPr/>
        </p:nvSpPr>
        <p:spPr>
          <a:xfrm>
            <a:off x="2560320" y="132588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genda 02 circle"/>
          <p:cNvSpPr/>
          <p:nvPr/>
        </p:nvSpPr>
        <p:spPr>
          <a:xfrm>
            <a:off x="278892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genda 0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341" y="1766621"/>
            <a:ext cx="307238" cy="307238"/>
          </a:xfrm>
          <a:prstGeom prst="rect">
            <a:avLst/>
          </a:prstGeom>
        </p:spPr>
      </p:pic>
      <p:sp>
        <p:nvSpPr>
          <p:cNvPr id="12" name="Agenda num 02"/>
          <p:cNvSpPr txBox="1"/>
          <p:nvPr/>
        </p:nvSpPr>
        <p:spPr>
          <a:xfrm>
            <a:off x="3566160" y="1600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Agenda head 02"/>
          <p:cNvSpPr txBox="1"/>
          <p:nvPr/>
        </p:nvSpPr>
        <p:spPr>
          <a:xfrm>
            <a:off x="278892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6つのスキル</a:t>
            </a:r>
            <a:endParaRPr lang="en-US" sz="1600" dirty="0"/>
          </a:p>
        </p:txBody>
      </p:sp>
      <p:sp>
        <p:nvSpPr>
          <p:cNvPr id="14" name="Agenda desc 02"/>
          <p:cNvSpPr txBox="1"/>
          <p:nvPr/>
        </p:nvSpPr>
        <p:spPr>
          <a:xfrm>
            <a:off x="2788920" y="2926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Claudeを使いこなす人が持っているもの</a:t>
            </a:r>
            <a:endParaRPr lang="en-US" sz="1200" dirty="0"/>
          </a:p>
        </p:txBody>
      </p:sp>
      <p:sp>
        <p:nvSpPr>
          <p:cNvPr id="15" name="Agenda card 03"/>
          <p:cNvSpPr/>
          <p:nvPr/>
        </p:nvSpPr>
        <p:spPr>
          <a:xfrm>
            <a:off x="4663440" y="132588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genda 03 circle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genda 0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461" y="1766621"/>
            <a:ext cx="307238" cy="307238"/>
          </a:xfrm>
          <a:prstGeom prst="rect">
            <a:avLst/>
          </a:prstGeom>
        </p:spPr>
      </p:pic>
      <p:sp>
        <p:nvSpPr>
          <p:cNvPr id="18" name="Agenda num 03"/>
          <p:cNvSpPr txBox="1"/>
          <p:nvPr/>
        </p:nvSpPr>
        <p:spPr>
          <a:xfrm>
            <a:off x="5669280" y="1600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Agenda head 03"/>
          <p:cNvSpPr txBox="1"/>
          <p:nvPr/>
        </p:nvSpPr>
        <p:spPr>
          <a:xfrm>
            <a:off x="489204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使われる人とは</a:t>
            </a:r>
            <a:endParaRPr lang="en-US" sz="1600" dirty="0"/>
          </a:p>
        </p:txBody>
      </p:sp>
      <p:sp>
        <p:nvSpPr>
          <p:cNvPr id="20" name="Agenda desc 03"/>
          <p:cNvSpPr txBox="1"/>
          <p:nvPr/>
        </p:nvSpPr>
        <p:spPr>
          <a:xfrm>
            <a:off x="4892040" y="2926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陥りやすい落とし穴と、AIの限界</a:t>
            </a:r>
            <a:endParaRPr lang="en-US" sz="1200" dirty="0"/>
          </a:p>
        </p:txBody>
      </p:sp>
      <p:sp>
        <p:nvSpPr>
          <p:cNvPr id="21" name="Agenda card 04"/>
          <p:cNvSpPr/>
          <p:nvPr/>
        </p:nvSpPr>
        <p:spPr>
          <a:xfrm>
            <a:off x="6766560" y="132588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genda 04 circle"/>
          <p:cNvSpPr/>
          <p:nvPr/>
        </p:nvSpPr>
        <p:spPr>
          <a:xfrm>
            <a:off x="699516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Agenda 0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581" y="1766621"/>
            <a:ext cx="307238" cy="307238"/>
          </a:xfrm>
          <a:prstGeom prst="rect">
            <a:avLst/>
          </a:prstGeom>
        </p:spPr>
      </p:pic>
      <p:sp>
        <p:nvSpPr>
          <p:cNvPr id="24" name="Agenda num 04"/>
          <p:cNvSpPr txBox="1"/>
          <p:nvPr/>
        </p:nvSpPr>
        <p:spPr>
          <a:xfrm>
            <a:off x="7772400" y="1600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04</a:t>
            </a:r>
            <a:endParaRPr lang="en-US" sz="2400" dirty="0"/>
          </a:p>
        </p:txBody>
      </p:sp>
      <p:sp>
        <p:nvSpPr>
          <p:cNvPr id="25" name="Agenda head 04"/>
          <p:cNvSpPr txBox="1"/>
          <p:nvPr/>
        </p:nvSpPr>
        <p:spPr>
          <a:xfrm>
            <a:off x="699516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演習とまとめ</a:t>
            </a:r>
            <a:endParaRPr lang="en-US" sz="1600" dirty="0"/>
          </a:p>
        </p:txBody>
      </p:sp>
      <p:sp>
        <p:nvSpPr>
          <p:cNvPr id="26" name="Agenda desc 04"/>
          <p:cNvSpPr txBox="1"/>
          <p:nvPr/>
        </p:nvSpPr>
        <p:spPr>
          <a:xfrm>
            <a:off x="6995160" y="29260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同じ課題を2通りの指示で試し、明日からの行動に落とす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結論：違いは道具ではなく、判断を手放すかどうか</a:t>
            </a:r>
            <a:endParaRPr lang="en-US" sz="2600" dirty="0"/>
          </a:p>
        </p:txBody>
      </p:sp>
      <p:sp>
        <p:nvSpPr>
          <p:cNvPr id="3" name="Card uses"/>
          <p:cNvSpPr/>
          <p:nvPr/>
        </p:nvSpPr>
        <p:spPr>
          <a:xfrm>
            <a:off x="457200" y="128016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ses circle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Us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1744675"/>
            <a:ext cx="351130" cy="351130"/>
          </a:xfrm>
          <a:prstGeom prst="rect">
            <a:avLst/>
          </a:prstGeom>
        </p:spPr>
      </p:pic>
      <p:sp>
        <p:nvSpPr>
          <p:cNvPr id="6" name="Uses head"/>
          <p:cNvSpPr txBox="1"/>
          <p:nvPr/>
        </p:nvSpPr>
        <p:spPr>
          <a:xfrm>
            <a:off x="164592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AIを使う人</a:t>
            </a:r>
            <a:endParaRPr lang="en-US" sz="2000" dirty="0"/>
          </a:p>
        </p:txBody>
      </p:sp>
      <p:sp>
        <p:nvSpPr>
          <p:cNvPr id="7" name="Uses body"/>
          <p:cNvSpPr txBox="1"/>
          <p:nvPr/>
        </p:nvSpPr>
        <p:spPr>
          <a:xfrm>
            <a:off x="73152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問いと検証を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自分で持っている</a:t>
            </a:r>
            <a:endParaRPr lang="en-US" sz="2000" dirty="0"/>
          </a:p>
        </p:txBody>
      </p:sp>
      <p:sp>
        <p:nvSpPr>
          <p:cNvPr id="8" name="Uses sub"/>
          <p:cNvSpPr txBox="1"/>
          <p:nvPr/>
        </p:nvSpPr>
        <p:spPr>
          <a:xfrm>
            <a:off x="73152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AIは思考を速める道具。最終判断は自分に残す</a:t>
            </a:r>
            <a:endParaRPr lang="en-US" sz="1200" dirty="0"/>
          </a:p>
        </p:txBody>
      </p:sp>
      <p:sp>
        <p:nvSpPr>
          <p:cNvPr id="9" name="Card usedby"/>
          <p:cNvSpPr/>
          <p:nvPr/>
        </p:nvSpPr>
        <p:spPr>
          <a:xfrm>
            <a:off x="4754880" y="128016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Usedby circle"/>
          <p:cNvSpPr/>
          <p:nvPr/>
        </p:nvSpPr>
        <p:spPr>
          <a:xfrm>
            <a:off x="5029200" y="15544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Usedb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395" y="1744675"/>
            <a:ext cx="351130" cy="351130"/>
          </a:xfrm>
          <a:prstGeom prst="rect">
            <a:avLst/>
          </a:prstGeom>
        </p:spPr>
      </p:pic>
      <p:sp>
        <p:nvSpPr>
          <p:cNvPr id="12" name="Usedby head"/>
          <p:cNvSpPr txBox="1"/>
          <p:nvPr/>
        </p:nvSpPr>
        <p:spPr>
          <a:xfrm>
            <a:off x="594360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AIに使われる人</a:t>
            </a:r>
            <a:endParaRPr lang="en-US" sz="2000" dirty="0"/>
          </a:p>
        </p:txBody>
      </p:sp>
      <p:sp>
        <p:nvSpPr>
          <p:cNvPr id="13" name="Usedby body"/>
          <p:cNvSpPr txBox="1"/>
          <p:nvPr/>
        </p:nvSpPr>
        <p:spPr>
          <a:xfrm>
            <a:off x="502920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判断を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手放している</a:t>
            </a:r>
            <a:endParaRPr lang="en-US" sz="2000" dirty="0"/>
          </a:p>
        </p:txBody>
      </p:sp>
      <p:sp>
        <p:nvSpPr>
          <p:cNvPr id="14" name="Usedby sub"/>
          <p:cNvSpPr txBox="1"/>
          <p:nvPr/>
        </p:nvSpPr>
        <p:spPr>
          <a:xfrm>
            <a:off x="502920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AIの出力が自分の答えになり、責任だけが残る</a:t>
            </a:r>
            <a:endParaRPr lang="en-US" sz="1200" dirty="0"/>
          </a:p>
        </p:txBody>
      </p:sp>
      <p:sp>
        <p:nvSpPr>
          <p:cNvPr id="15" name="Takeaway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同じツール、同じモデルでも、成果は使う側の姿勢で大きく変わる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057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Claudeを使いこなす人に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必要な6つのスキル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スキル 1〜3：頼む前に決まっていること</a:t>
            </a:r>
            <a:endParaRPr lang="en-US" sz="2600" dirty="0"/>
          </a:p>
        </p:txBody>
      </p:sp>
      <p:sp>
        <p:nvSpPr>
          <p:cNvPr id="3" name="Skill card 1"/>
          <p:cNvSpPr/>
          <p:nvPr/>
        </p:nvSpPr>
        <p:spPr>
          <a:xfrm>
            <a:off x="457200" y="123444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kill 1 circle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kill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Skill num 1"/>
          <p:cNvSpPr txBox="1"/>
          <p:nvPr/>
        </p:nvSpPr>
        <p:spPr>
          <a:xfrm>
            <a:off x="1508760" y="14630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kill head 1"/>
          <p:cNvSpPr txBox="1"/>
          <p:nvPr/>
        </p:nvSpPr>
        <p:spPr>
          <a:xfrm>
            <a:off x="196596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目的を言語化する</a:t>
            </a:r>
            <a:endParaRPr lang="en-US" sz="1700" dirty="0"/>
          </a:p>
        </p:txBody>
      </p:sp>
      <p:sp>
        <p:nvSpPr>
          <p:cNvPr id="8" name="Skill desc 1"/>
          <p:cNvSpPr txBox="1"/>
          <p:nvPr/>
        </p:nvSpPr>
        <p:spPr>
          <a:xfrm>
            <a:off x="4480560" y="1371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「何を」「誰のために」「どこまで」を一文で言える。曖昧な指示からは曖昧な成果物しか生まれない</a:t>
            </a:r>
            <a:endParaRPr lang="en-US" sz="1250" dirty="0"/>
          </a:p>
        </p:txBody>
      </p:sp>
      <p:sp>
        <p:nvSpPr>
          <p:cNvPr id="9" name="Skill card 2"/>
          <p:cNvSpPr/>
          <p:nvPr/>
        </p:nvSpPr>
        <p:spPr>
          <a:xfrm>
            <a:off x="457200" y="242316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kill 2 circle"/>
          <p:cNvSpPr/>
          <p:nvPr/>
        </p:nvSpPr>
        <p:spPr>
          <a:xfrm>
            <a:off x="685800" y="2651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kill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2818181"/>
            <a:ext cx="307238" cy="307238"/>
          </a:xfrm>
          <a:prstGeom prst="rect">
            <a:avLst/>
          </a:prstGeom>
        </p:spPr>
      </p:pic>
      <p:sp>
        <p:nvSpPr>
          <p:cNvPr id="12" name="Skill num 2"/>
          <p:cNvSpPr txBox="1"/>
          <p:nvPr/>
        </p:nvSpPr>
        <p:spPr>
          <a:xfrm>
            <a:off x="150876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kill head 2"/>
          <p:cNvSpPr txBox="1"/>
          <p:nvPr/>
        </p:nvSpPr>
        <p:spPr>
          <a:xfrm>
            <a:off x="1965960" y="2560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文脈を渡す</a:t>
            </a:r>
            <a:endParaRPr lang="en-US" sz="1700" dirty="0"/>
          </a:p>
        </p:txBody>
      </p:sp>
      <p:sp>
        <p:nvSpPr>
          <p:cNvPr id="14" name="Skill desc 2"/>
          <p:cNvSpPr txBox="1"/>
          <p:nvPr/>
        </p:nvSpPr>
        <p:spPr>
          <a:xfrm>
            <a:off x="4480560" y="2560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前提、制約、既存資料、やってほしくないことを最初に渡す。AIは渡されていない情報を知らない</a:t>
            </a:r>
            <a:endParaRPr lang="en-US" sz="1250" dirty="0"/>
          </a:p>
        </p:txBody>
      </p:sp>
      <p:sp>
        <p:nvSpPr>
          <p:cNvPr id="15" name="Skill card 3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kill 3 circle"/>
          <p:cNvSpPr/>
          <p:nvPr/>
        </p:nvSpPr>
        <p:spPr>
          <a:xfrm>
            <a:off x="685800" y="3840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kill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006901"/>
            <a:ext cx="307238" cy="307238"/>
          </a:xfrm>
          <a:prstGeom prst="rect">
            <a:avLst/>
          </a:prstGeom>
        </p:spPr>
      </p:pic>
      <p:sp>
        <p:nvSpPr>
          <p:cNvPr id="18" name="Skill num 3"/>
          <p:cNvSpPr txBox="1"/>
          <p:nvPr/>
        </p:nvSpPr>
        <p:spPr>
          <a:xfrm>
            <a:off x="1508760" y="3840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kill head 3"/>
          <p:cNvSpPr txBox="1"/>
          <p:nvPr/>
        </p:nvSpPr>
        <p:spPr>
          <a:xfrm>
            <a:off x="19659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検証する</a:t>
            </a:r>
            <a:endParaRPr lang="en-US" sz="1700" dirty="0"/>
          </a:p>
        </p:txBody>
      </p:sp>
      <p:sp>
        <p:nvSpPr>
          <p:cNvPr id="20" name="Skill desc 3"/>
          <p:cNvSpPr txBox="1"/>
          <p:nvPr/>
        </p:nvSpPr>
        <p:spPr>
          <a:xfrm>
            <a:off x="448056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出力の正しさを自分で確かめる手段を持つ。コードなら動かす、文章なら根拠を当たる。自信ありげな間違いを見抜く唯一の方法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スキル 4〜6：成果の質を左右する土台</a:t>
            </a:r>
            <a:endParaRPr lang="en-US" sz="2600" dirty="0"/>
          </a:p>
        </p:txBody>
      </p:sp>
      <p:sp>
        <p:nvSpPr>
          <p:cNvPr id="3" name="Skill card 4"/>
          <p:cNvSpPr/>
          <p:nvPr/>
        </p:nvSpPr>
        <p:spPr>
          <a:xfrm>
            <a:off x="457200" y="123444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kill 4 circle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kill 4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Skill num 4"/>
          <p:cNvSpPr txBox="1"/>
          <p:nvPr/>
        </p:nvSpPr>
        <p:spPr>
          <a:xfrm>
            <a:off x="1508760" y="14630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</a:t>
            </a:r>
            <a:endParaRPr lang="en-US" sz="2200" dirty="0"/>
          </a:p>
        </p:txBody>
      </p:sp>
      <p:sp>
        <p:nvSpPr>
          <p:cNvPr id="7" name="Skill head 4"/>
          <p:cNvSpPr txBox="1"/>
          <p:nvPr/>
        </p:nvSpPr>
        <p:spPr>
          <a:xfrm>
            <a:off x="196596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分解する</a:t>
            </a:r>
            <a:endParaRPr lang="en-US" sz="1700" dirty="0"/>
          </a:p>
        </p:txBody>
      </p:sp>
      <p:sp>
        <p:nvSpPr>
          <p:cNvPr id="8" name="Skill desc 4"/>
          <p:cNvSpPr txBox="1"/>
          <p:nvPr/>
        </p:nvSpPr>
        <p:spPr>
          <a:xfrm>
            <a:off x="4480560" y="1371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大きな仕事を、AIに任せる単位と自分が判断する単位に切り分ける。全部丸投げも、全部自分でやるのも非効率</a:t>
            </a:r>
            <a:endParaRPr lang="en-US" sz="1250" dirty="0"/>
          </a:p>
        </p:txBody>
      </p:sp>
      <p:sp>
        <p:nvSpPr>
          <p:cNvPr id="9" name="Skill card 5"/>
          <p:cNvSpPr/>
          <p:nvPr/>
        </p:nvSpPr>
        <p:spPr>
          <a:xfrm>
            <a:off x="457200" y="242316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kill 5 circle"/>
          <p:cNvSpPr/>
          <p:nvPr/>
        </p:nvSpPr>
        <p:spPr>
          <a:xfrm>
            <a:off x="685800" y="2651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kill 5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2818181"/>
            <a:ext cx="307238" cy="307238"/>
          </a:xfrm>
          <a:prstGeom prst="rect">
            <a:avLst/>
          </a:prstGeom>
        </p:spPr>
      </p:pic>
      <p:sp>
        <p:nvSpPr>
          <p:cNvPr id="12" name="Skill num 5"/>
          <p:cNvSpPr txBox="1"/>
          <p:nvPr/>
        </p:nvSpPr>
        <p:spPr>
          <a:xfrm>
            <a:off x="150876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</a:t>
            </a:r>
            <a:endParaRPr lang="en-US" sz="2200" dirty="0"/>
          </a:p>
        </p:txBody>
      </p:sp>
      <p:sp>
        <p:nvSpPr>
          <p:cNvPr id="13" name="Skill head 5"/>
          <p:cNvSpPr txBox="1"/>
          <p:nvPr/>
        </p:nvSpPr>
        <p:spPr>
          <a:xfrm>
            <a:off x="1965960" y="2560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領域の基礎知識</a:t>
            </a:r>
            <a:endParaRPr lang="en-US" sz="1700" dirty="0"/>
          </a:p>
        </p:txBody>
      </p:sp>
      <p:sp>
        <p:nvSpPr>
          <p:cNvPr id="14" name="Skill desc 5"/>
          <p:cNvSpPr txBox="1"/>
          <p:nvPr/>
        </p:nvSpPr>
        <p:spPr>
          <a:xfrm>
            <a:off x="4480560" y="2560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基礎が分かる分野では出力の質を判断でき、良い質問も作れる。知識ゼロの分野では「使う」ではなく「信じる」しかなくなる</a:t>
            </a:r>
            <a:endParaRPr lang="en-US" sz="1250" dirty="0"/>
          </a:p>
        </p:txBody>
      </p:sp>
      <p:sp>
        <p:nvSpPr>
          <p:cNvPr id="15" name="Skill card 6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kill 6 circle"/>
          <p:cNvSpPr/>
          <p:nvPr/>
        </p:nvSpPr>
        <p:spPr>
          <a:xfrm>
            <a:off x="685800" y="3840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kill 6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006901"/>
            <a:ext cx="307238" cy="307238"/>
          </a:xfrm>
          <a:prstGeom prst="rect">
            <a:avLst/>
          </a:prstGeom>
        </p:spPr>
      </p:pic>
      <p:sp>
        <p:nvSpPr>
          <p:cNvPr id="18" name="Skill num 6"/>
          <p:cNvSpPr txBox="1"/>
          <p:nvPr/>
        </p:nvSpPr>
        <p:spPr>
          <a:xfrm>
            <a:off x="1508760" y="3840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</a:t>
            </a:r>
            <a:endParaRPr lang="en-US" sz="2200" dirty="0"/>
          </a:p>
        </p:txBody>
      </p:sp>
      <p:sp>
        <p:nvSpPr>
          <p:cNvPr id="19" name="Skill head 6"/>
          <p:cNvSpPr txBox="1"/>
          <p:nvPr/>
        </p:nvSpPr>
        <p:spPr>
          <a:xfrm>
            <a:off x="19659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やり直しを恐れない</a:t>
            </a:r>
            <a:endParaRPr lang="en-US" sz="1700" dirty="0"/>
          </a:p>
        </p:txBody>
      </p:sp>
      <p:sp>
        <p:nvSpPr>
          <p:cNvPr id="20" name="Skill desc 6"/>
          <p:cNvSpPr txBox="1"/>
          <p:nvPr/>
        </p:nvSpPr>
        <p:spPr>
          <a:xfrm>
            <a:off x="448056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一回目の出力を完成品と思わず、方向を修正して再度頼む。対話は編集作業だと捉える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指示の差がそのまま成果の差になる</a:t>
            </a:r>
            <a:endParaRPr lang="en-US" sz="2600" dirty="0"/>
          </a:p>
        </p:txBody>
      </p:sp>
      <p:sp>
        <p:nvSpPr>
          <p:cNvPr id="3" name="Before card"/>
          <p:cNvSpPr/>
          <p:nvPr/>
        </p:nvSpPr>
        <p:spPr>
          <a:xfrm>
            <a:off x="457200" y="1234440"/>
            <a:ext cx="37947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efore head"/>
          <p:cNvSpPr txBox="1"/>
          <p:nvPr/>
        </p:nvSpPr>
        <p:spPr>
          <a:xfrm>
            <a:off x="685800" y="14173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一行の指示</a:t>
            </a:r>
            <a:endParaRPr lang="en-US" sz="1600" dirty="0"/>
          </a:p>
        </p:txBody>
      </p:sp>
      <p:sp>
        <p:nvSpPr>
          <p:cNvPr id="5" name="Before prompt"/>
          <p:cNvSpPr txBox="1"/>
          <p:nvPr/>
        </p:nvSpPr>
        <p:spPr>
          <a:xfrm>
            <a:off x="685800" y="1920240"/>
            <a:ext cx="3337560" cy="8229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「この議事録、いい感じにまとめて」</a:t>
            </a:r>
            <a:endParaRPr lang="en-US" sz="1400" dirty="0"/>
          </a:p>
        </p:txBody>
      </p:sp>
      <p:sp>
        <p:nvSpPr>
          <p:cNvPr id="6" name="Before result"/>
          <p:cNvSpPr txBox="1"/>
          <p:nvPr/>
        </p:nvSpPr>
        <p:spPr>
          <a:xfrm>
            <a:off x="685800" y="292608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結果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無難で薄い要約が返る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誰向けか、何に使うかが反映されない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どこを直せばよいか自分でも分からない</a:t>
            </a:r>
            <a:endParaRPr lang="en-US" sz="1200" dirty="0"/>
          </a:p>
        </p:txBody>
      </p:sp>
      <p:pic>
        <p:nvPicPr>
          <p:cNvPr id="7" name="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2606040"/>
            <a:ext cx="411480" cy="411480"/>
          </a:xfrm>
          <a:prstGeom prst="rect">
            <a:avLst/>
          </a:prstGeom>
        </p:spPr>
      </p:pic>
      <p:sp>
        <p:nvSpPr>
          <p:cNvPr id="8" name="After card"/>
          <p:cNvSpPr/>
          <p:nvPr/>
        </p:nvSpPr>
        <p:spPr>
          <a:xfrm>
            <a:off x="4892040" y="1234440"/>
            <a:ext cx="37947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fter head"/>
          <p:cNvSpPr txBox="1"/>
          <p:nvPr/>
        </p:nvSpPr>
        <p:spPr>
          <a:xfrm>
            <a:off x="5120640" y="14173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目的・文脈・制約を添えた指示</a:t>
            </a:r>
            <a:endParaRPr lang="en-US" sz="1600" dirty="0"/>
          </a:p>
        </p:txBody>
      </p:sp>
      <p:sp>
        <p:nvSpPr>
          <p:cNvPr id="10" name="After prompt"/>
          <p:cNvSpPr txBox="1"/>
          <p:nvPr/>
        </p:nvSpPr>
        <p:spPr>
          <a:xfrm>
            <a:off x="5120640" y="1920240"/>
            <a:ext cx="3337560" cy="8229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「来週の役員会の事前資料にする。決定事項と未決事項を分け、各3行以内。専門用語は避けて」</a:t>
            </a:r>
            <a:endParaRPr lang="en-US" sz="1200" dirty="0"/>
          </a:p>
        </p:txBody>
      </p:sp>
      <p:sp>
        <p:nvSpPr>
          <p:cNvPr id="11" name="After result"/>
          <p:cNvSpPr txBox="1"/>
          <p:nvPr/>
        </p:nvSpPr>
        <p:spPr>
          <a:xfrm>
            <a:off x="5120640" y="292608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結果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ほぼそのまま使える形で返る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読み手と用途に合った粒度になる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直す箇所が明確で、修正依頼も一言で済む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057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AIに使われる人の特徴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こんな使い方になっていませんか</a:t>
            </a:r>
            <a:endParaRPr lang="en-US" sz="2600" dirty="0"/>
          </a:p>
        </p:txBody>
      </p:sp>
      <p:sp>
        <p:nvSpPr>
          <p:cNvPr id="3" name="Trait card 1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rait 1 circl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Trai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02359"/>
            <a:ext cx="241402" cy="241402"/>
          </a:xfrm>
          <a:prstGeom prst="rect">
            <a:avLst/>
          </a:prstGeom>
        </p:spPr>
      </p:pic>
      <p:sp>
        <p:nvSpPr>
          <p:cNvPr id="6" name="Trait head 1"/>
          <p:cNvSpPr txBox="1"/>
          <p:nvPr/>
        </p:nvSpPr>
        <p:spPr>
          <a:xfrm>
            <a:off x="123444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出力をそのまま使う</a:t>
            </a:r>
            <a:endParaRPr lang="en-US" sz="1300" dirty="0"/>
          </a:p>
        </p:txBody>
      </p:sp>
      <p:sp>
        <p:nvSpPr>
          <p:cNvPr id="7" name="Trait desc 1"/>
          <p:cNvSpPr txBox="1"/>
          <p:nvPr/>
        </p:nvSpPr>
        <p:spPr>
          <a:xfrm>
            <a:off x="64008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読まずに貼る、動かさずに提出する。責任は自分にあることを忘れている</a:t>
            </a:r>
            <a:endParaRPr lang="en-US" sz="1100" dirty="0"/>
          </a:p>
        </p:txBody>
      </p:sp>
      <p:sp>
        <p:nvSpPr>
          <p:cNvPr id="8" name="Trait card 2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rait 2 circle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Trai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502359"/>
            <a:ext cx="241402" cy="241402"/>
          </a:xfrm>
          <a:prstGeom prst="rect">
            <a:avLst/>
          </a:prstGeom>
        </p:spPr>
      </p:pic>
      <p:sp>
        <p:nvSpPr>
          <p:cNvPr id="11" name="Trait head 2"/>
          <p:cNvSpPr txBox="1"/>
          <p:nvPr/>
        </p:nvSpPr>
        <p:spPr>
          <a:xfrm>
            <a:off x="402336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判断をAIに委ねる</a:t>
            </a:r>
            <a:endParaRPr lang="en-US" sz="1300" dirty="0"/>
          </a:p>
        </p:txBody>
      </p:sp>
      <p:sp>
        <p:nvSpPr>
          <p:cNvPr id="12" name="Trait desc 2"/>
          <p:cNvSpPr txBox="1"/>
          <p:nvPr/>
        </p:nvSpPr>
        <p:spPr>
          <a:xfrm>
            <a:off x="34290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「どちらが良いですか」ばかりで、自分の基準を持たない</a:t>
            </a:r>
            <a:endParaRPr lang="en-US" sz="1100" dirty="0"/>
          </a:p>
        </p:txBody>
      </p:sp>
      <p:sp>
        <p:nvSpPr>
          <p:cNvPr id="13" name="Trait card 3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rait 3 circle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Trai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502359"/>
            <a:ext cx="241402" cy="241402"/>
          </a:xfrm>
          <a:prstGeom prst="rect">
            <a:avLst/>
          </a:prstGeom>
        </p:spPr>
      </p:pic>
      <p:sp>
        <p:nvSpPr>
          <p:cNvPr id="16" name="Trait head 3"/>
          <p:cNvSpPr txBox="1"/>
          <p:nvPr/>
        </p:nvSpPr>
        <p:spPr>
          <a:xfrm>
            <a:off x="681228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質問が一行で終わる</a:t>
            </a:r>
            <a:endParaRPr lang="en-US" sz="1300" dirty="0"/>
          </a:p>
        </p:txBody>
      </p:sp>
      <p:sp>
        <p:nvSpPr>
          <p:cNvPr id="17" name="Trait desc 3"/>
          <p:cNvSpPr txBox="1"/>
          <p:nvPr/>
        </p:nvSpPr>
        <p:spPr>
          <a:xfrm>
            <a:off x="621792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「いい感じにして」で何が良いかを伝えない。不満があっても直し方が分からない</a:t>
            </a:r>
            <a:endParaRPr lang="en-US" sz="1100" dirty="0"/>
          </a:p>
        </p:txBody>
      </p:sp>
      <p:sp>
        <p:nvSpPr>
          <p:cNvPr id="18" name="Trait card 4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rait 4 circle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Trai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39719"/>
            <a:ext cx="241402" cy="241402"/>
          </a:xfrm>
          <a:prstGeom prst="rect">
            <a:avLst/>
          </a:prstGeom>
        </p:spPr>
      </p:pic>
      <p:sp>
        <p:nvSpPr>
          <p:cNvPr id="21" name="Trait head 4"/>
          <p:cNvSpPr txBox="1"/>
          <p:nvPr/>
        </p:nvSpPr>
        <p:spPr>
          <a:xfrm>
            <a:off x="123444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間違いを指摘できない</a:t>
            </a:r>
            <a:endParaRPr lang="en-US" sz="1300" dirty="0"/>
          </a:p>
        </p:txBody>
      </p:sp>
      <p:sp>
        <p:nvSpPr>
          <p:cNvPr id="22" name="Trait desc 4"/>
          <p:cNvSpPr txBox="1"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AIが自信を持って答えると反論できず、自分が正しくても引き下がる</a:t>
            </a:r>
            <a:endParaRPr lang="en-US" sz="1100" dirty="0"/>
          </a:p>
        </p:txBody>
      </p:sp>
      <p:sp>
        <p:nvSpPr>
          <p:cNvPr id="23" name="Trait card 5"/>
          <p:cNvSpPr/>
          <p:nvPr/>
        </p:nvSpPr>
        <p:spPr>
          <a:xfrm>
            <a:off x="3246120" y="292608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rait 5 circle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Trai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239719"/>
            <a:ext cx="241402" cy="241402"/>
          </a:xfrm>
          <a:prstGeom prst="rect">
            <a:avLst/>
          </a:prstGeom>
        </p:spPr>
      </p:pic>
      <p:sp>
        <p:nvSpPr>
          <p:cNvPr id="26" name="Trait head 5"/>
          <p:cNvSpPr txBox="1"/>
          <p:nvPr/>
        </p:nvSpPr>
        <p:spPr>
          <a:xfrm>
            <a:off x="402336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学ぶ機会を手放す</a:t>
            </a:r>
            <a:endParaRPr lang="en-US" sz="1300" dirty="0"/>
          </a:p>
        </p:txBody>
      </p:sp>
      <p:sp>
        <p:nvSpPr>
          <p:cNvPr id="27" name="Trait desc 5"/>
          <p:cNvSpPr txBox="1"/>
          <p:nvPr/>
        </p:nvSpPr>
        <p:spPr>
          <a:xfrm>
            <a:off x="342900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理解せず答えだけ受け取り続け、次も自力で判断できず依存が深まる</a:t>
            </a:r>
            <a:endParaRPr lang="en-US" sz="1100" dirty="0"/>
          </a:p>
        </p:txBody>
      </p:sp>
      <p:sp>
        <p:nvSpPr>
          <p:cNvPr id="28" name="Trait card 6"/>
          <p:cNvSpPr/>
          <p:nvPr/>
        </p:nvSpPr>
        <p:spPr>
          <a:xfrm>
            <a:off x="6035040" y="292608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rait 6 circle"/>
          <p:cNvSpPr/>
          <p:nvPr/>
        </p:nvSpPr>
        <p:spPr>
          <a:xfrm>
            <a:off x="6217920" y="31089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Trait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239719"/>
            <a:ext cx="241402" cy="241402"/>
          </a:xfrm>
          <a:prstGeom prst="rect">
            <a:avLst/>
          </a:prstGeom>
        </p:spPr>
      </p:pic>
      <p:sp>
        <p:nvSpPr>
          <p:cNvPr id="31" name="Trait head 6"/>
          <p:cNvSpPr txBox="1"/>
          <p:nvPr/>
        </p:nvSpPr>
        <p:spPr>
          <a:xfrm>
            <a:off x="681228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限界を知らない</a:t>
            </a:r>
            <a:endParaRPr lang="en-US" sz="1300" dirty="0"/>
          </a:p>
        </p:txBody>
      </p:sp>
      <p:sp>
        <p:nvSpPr>
          <p:cNvPr id="32" name="Trait desc 6"/>
          <p:cNvSpPr txBox="1"/>
          <p:nvPr/>
        </p:nvSpPr>
        <p:spPr>
          <a:xfrm>
            <a:off x="62179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知識の時点、計算の苦手さ、捏造の可能性を知らないまま使う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知っておくべきAIの4つの限界</a:t>
            </a:r>
            <a:endParaRPr lang="en-US" sz="2600" dirty="0"/>
          </a:p>
        </p:txBody>
      </p:sp>
      <p:sp>
        <p:nvSpPr>
          <p:cNvPr id="3" name="Limit card 1"/>
          <p:cNvSpPr/>
          <p:nvPr/>
        </p:nvSpPr>
        <p:spPr>
          <a:xfrm>
            <a:off x="457200" y="1188720"/>
            <a:ext cx="1920240" cy="26060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 1 circle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Limi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571854"/>
            <a:ext cx="285293" cy="285293"/>
          </a:xfrm>
          <a:prstGeom prst="rect">
            <a:avLst/>
          </a:prstGeom>
        </p:spPr>
      </p:pic>
      <p:sp>
        <p:nvSpPr>
          <p:cNvPr id="6" name="Limit head 1"/>
          <p:cNvSpPr txBox="1"/>
          <p:nvPr/>
        </p:nvSpPr>
        <p:spPr>
          <a:xfrm>
            <a:off x="68580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知識には時点がある</a:t>
            </a:r>
            <a:endParaRPr lang="en-US" sz="1300" dirty="0"/>
          </a:p>
        </p:txBody>
      </p:sp>
      <p:sp>
        <p:nvSpPr>
          <p:cNvPr id="7" name="Limit desc 1"/>
          <p:cNvSpPr txBox="1"/>
          <p:nvPr/>
        </p:nvSpPr>
        <p:spPr>
          <a:xfrm>
            <a:off x="685800" y="27432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学習データには締め切りがある。最新情報や社内の事情は、渡さなければ知らない</a:t>
            </a:r>
            <a:endParaRPr lang="en-US" sz="1100" dirty="0"/>
          </a:p>
        </p:txBody>
      </p:sp>
      <p:sp>
        <p:nvSpPr>
          <p:cNvPr id="8" name="Limit card 2"/>
          <p:cNvSpPr/>
          <p:nvPr/>
        </p:nvSpPr>
        <p:spPr>
          <a:xfrm>
            <a:off x="2560320" y="1188720"/>
            <a:ext cx="1920240" cy="26060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it 2 circle"/>
          <p:cNvSpPr/>
          <p:nvPr/>
        </p:nvSpPr>
        <p:spPr>
          <a:xfrm>
            <a:off x="2788920" y="14173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Limi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454" y="1571854"/>
            <a:ext cx="285293" cy="285293"/>
          </a:xfrm>
          <a:prstGeom prst="rect">
            <a:avLst/>
          </a:prstGeom>
        </p:spPr>
      </p:pic>
      <p:sp>
        <p:nvSpPr>
          <p:cNvPr id="11" name="Limit head 2"/>
          <p:cNvSpPr txBox="1"/>
          <p:nvPr/>
        </p:nvSpPr>
        <p:spPr>
          <a:xfrm>
            <a:off x="278892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もっともらしい捏造</a:t>
            </a:r>
            <a:endParaRPr lang="en-US" sz="1300" dirty="0"/>
          </a:p>
        </p:txBody>
      </p:sp>
      <p:sp>
        <p:nvSpPr>
          <p:cNvPr id="12" name="Limit desc 2"/>
          <p:cNvSpPr txBox="1"/>
          <p:nvPr/>
        </p:nvSpPr>
        <p:spPr>
          <a:xfrm>
            <a:off x="2788920" y="27432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存在しない文献や数値を自信満々に出すことがある。断定口調は正しさの証拠にならない</a:t>
            </a:r>
            <a:endParaRPr lang="en-US" sz="1100" dirty="0"/>
          </a:p>
        </p:txBody>
      </p:sp>
      <p:sp>
        <p:nvSpPr>
          <p:cNvPr id="13" name="Limit card 3"/>
          <p:cNvSpPr/>
          <p:nvPr/>
        </p:nvSpPr>
        <p:spPr>
          <a:xfrm>
            <a:off x="4663440" y="1188720"/>
            <a:ext cx="1920240" cy="26060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mit 3 circle"/>
          <p:cNvSpPr/>
          <p:nvPr/>
        </p:nvSpPr>
        <p:spPr>
          <a:xfrm>
            <a:off x="4892040" y="14173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Limi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574" y="1571854"/>
            <a:ext cx="285293" cy="285293"/>
          </a:xfrm>
          <a:prstGeom prst="rect">
            <a:avLst/>
          </a:prstGeom>
        </p:spPr>
      </p:pic>
      <p:sp>
        <p:nvSpPr>
          <p:cNvPr id="16" name="Limit head 3"/>
          <p:cNvSpPr txBox="1"/>
          <p:nvPr/>
        </p:nvSpPr>
        <p:spPr>
          <a:xfrm>
            <a:off x="489204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計算や集計が苦手</a:t>
            </a:r>
            <a:endParaRPr lang="en-US" sz="1300" dirty="0"/>
          </a:p>
        </p:txBody>
      </p:sp>
      <p:sp>
        <p:nvSpPr>
          <p:cNvPr id="17" name="Limit desc 3"/>
          <p:cNvSpPr txBox="1"/>
          <p:nvPr/>
        </p:nvSpPr>
        <p:spPr>
          <a:xfrm>
            <a:off x="4892040" y="27432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桁の多い計算、件数の集計、厳密な照合は間違えやすい。道具やコードで確かめる</a:t>
            </a:r>
            <a:endParaRPr lang="en-US" sz="1100" dirty="0"/>
          </a:p>
        </p:txBody>
      </p:sp>
      <p:sp>
        <p:nvSpPr>
          <p:cNvPr id="18" name="Limit card 4"/>
          <p:cNvSpPr/>
          <p:nvPr/>
        </p:nvSpPr>
        <p:spPr>
          <a:xfrm>
            <a:off x="6766560" y="1188720"/>
            <a:ext cx="1920240" cy="26060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imit 4 circle"/>
          <p:cNvSpPr/>
          <p:nvPr/>
        </p:nvSpPr>
        <p:spPr>
          <a:xfrm>
            <a:off x="6995160" y="14173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Limi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694" y="1571854"/>
            <a:ext cx="285293" cy="285293"/>
          </a:xfrm>
          <a:prstGeom prst="rect">
            <a:avLst/>
          </a:prstGeom>
        </p:spPr>
      </p:pic>
      <p:sp>
        <p:nvSpPr>
          <p:cNvPr id="21" name="Limit head 4"/>
          <p:cNvSpPr txBox="1"/>
          <p:nvPr/>
        </p:nvSpPr>
        <p:spPr>
          <a:xfrm>
            <a:off x="699516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状況を知らない</a:t>
            </a:r>
            <a:endParaRPr lang="en-US" sz="1300" dirty="0"/>
          </a:p>
        </p:txBody>
      </p:sp>
      <p:sp>
        <p:nvSpPr>
          <p:cNvPr id="22" name="Limit desc 4"/>
          <p:cNvSpPr txBox="1"/>
          <p:nvPr/>
        </p:nvSpPr>
        <p:spPr>
          <a:xfrm>
            <a:off x="6995160" y="27432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組織の力関係、過去の経緯、暗黙の前提は見えていない。助言はその前提で聞く</a:t>
            </a:r>
            <a:endParaRPr lang="en-US" sz="1100" dirty="0"/>
          </a:p>
        </p:txBody>
      </p:sp>
      <p:sp>
        <p:nvSpPr>
          <p:cNvPr id="23" name="Limit takeaway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限界を知っている人だけが、出力を疑うことができる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057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演習とまとめ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演習：同じ課題を2通りの指示で試す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6858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tep head 1"/>
          <p:cNvSpPr txBox="1"/>
          <p:nvPr/>
        </p:nvSpPr>
        <p:spPr>
          <a:xfrm>
            <a:off x="685800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一行で頼む</a:t>
            </a:r>
            <a:endParaRPr lang="en-US" sz="1400" dirty="0"/>
          </a:p>
        </p:txBody>
      </p:sp>
      <p:sp>
        <p:nvSpPr>
          <p:cNvPr id="7" name="Step desc 1"/>
          <p:cNvSpPr txBox="1"/>
          <p:nvPr/>
        </p:nvSpPr>
        <p:spPr>
          <a:xfrm>
            <a:off x="685800" y="2743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まず「いい感じに」のような短い指示で出力を得る</a:t>
            </a:r>
            <a:endParaRPr lang="en-US" sz="1150" dirty="0"/>
          </a:p>
        </p:txBody>
      </p:sp>
      <p:pic>
        <p:nvPicPr>
          <p:cNvPr id="8" name="Step arrow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2057400"/>
            <a:ext cx="256032" cy="256032"/>
          </a:xfrm>
          <a:prstGeom prst="rect">
            <a:avLst/>
          </a:prstGeom>
        </p:spPr>
      </p:pic>
      <p:sp>
        <p:nvSpPr>
          <p:cNvPr id="9" name="Step card 2"/>
          <p:cNvSpPr/>
          <p:nvPr/>
        </p:nvSpPr>
        <p:spPr>
          <a:xfrm>
            <a:off x="3314700" y="11887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circle 2"/>
          <p:cNvSpPr/>
          <p:nvPr/>
        </p:nvSpPr>
        <p:spPr>
          <a:xfrm>
            <a:off x="3543300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num 2"/>
          <p:cNvSpPr txBox="1"/>
          <p:nvPr/>
        </p:nvSpPr>
        <p:spPr>
          <a:xfrm>
            <a:off x="35433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tep head 2"/>
          <p:cNvSpPr txBox="1"/>
          <p:nvPr/>
        </p:nvSpPr>
        <p:spPr>
          <a:xfrm>
            <a:off x="3543300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目的・文脈・制約を添えて頼む</a:t>
            </a:r>
            <a:endParaRPr lang="en-US" sz="1400" dirty="0"/>
          </a:p>
        </p:txBody>
      </p:sp>
      <p:sp>
        <p:nvSpPr>
          <p:cNvPr id="13" name="Step desc 2"/>
          <p:cNvSpPr txBox="1"/>
          <p:nvPr/>
        </p:nvSpPr>
        <p:spPr>
          <a:xfrm>
            <a:off x="3543300" y="2743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誰向けか、何に使うか、長さや形式の条件を書いて同じ課題を頼む</a:t>
            </a:r>
            <a:endParaRPr lang="en-US" sz="1150" dirty="0"/>
          </a:p>
        </p:txBody>
      </p:sp>
      <p:pic>
        <p:nvPicPr>
          <p:cNvPr id="14" name="Step arrow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057400"/>
            <a:ext cx="256032" cy="256032"/>
          </a:xfrm>
          <a:prstGeom prst="rect">
            <a:avLst/>
          </a:prstGeom>
        </p:spPr>
      </p:pic>
      <p:sp>
        <p:nvSpPr>
          <p:cNvPr id="15" name="Step card 3"/>
          <p:cNvSpPr/>
          <p:nvPr/>
        </p:nvSpPr>
        <p:spPr>
          <a:xfrm>
            <a:off x="6172200" y="118872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circle 3"/>
          <p:cNvSpPr/>
          <p:nvPr/>
        </p:nvSpPr>
        <p:spPr>
          <a:xfrm>
            <a:off x="6400800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num 3"/>
          <p:cNvSpPr txBox="1"/>
          <p:nvPr/>
        </p:nvSpPr>
        <p:spPr>
          <a:xfrm>
            <a:off x="64008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tep head 3"/>
          <p:cNvSpPr txBox="1"/>
          <p:nvPr/>
        </p:nvSpPr>
        <p:spPr>
          <a:xfrm>
            <a:off x="6400800" y="2148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並べて比べ、違いを言葉にする</a:t>
            </a:r>
            <a:endParaRPr lang="en-US" sz="1400" dirty="0"/>
          </a:p>
        </p:txBody>
      </p:sp>
      <p:sp>
        <p:nvSpPr>
          <p:cNvPr id="19" name="Step desc 3"/>
          <p:cNvSpPr txBox="1"/>
          <p:nvPr/>
        </p:nvSpPr>
        <p:spPr>
          <a:xfrm>
            <a:off x="6400800" y="2743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どこが変わったか、なぜ変わったかを自分の言葉で説明する</a:t>
            </a:r>
            <a:endParaRPr lang="en-US" sz="1150" dirty="0"/>
          </a:p>
        </p:txBody>
      </p:sp>
      <p:sp>
        <p:nvSpPr>
          <p:cNvPr id="20" name="Exercise info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Exercise text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2"/>
                </a:solidFill>
              </a:rPr>
              <a:t>課題例　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「この社内文書を、全社員向けの案内メールに書き直して」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2"/>
                </a:solidFill>
              </a:rPr>
              <a:t>所要時間　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15分（各5分）。終了後、隣の人と結果を見せ合う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mmary title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明日からできる3つのこと</a:t>
            </a:r>
            <a:endParaRPr lang="en-US" sz="3000" dirty="0"/>
          </a:p>
        </p:txBody>
      </p:sp>
      <p:sp>
        <p:nvSpPr>
          <p:cNvPr id="3" name="Act circl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ct num 1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Act head 1"/>
          <p:cNvSpPr txBox="1"/>
          <p:nvPr/>
        </p:nvSpPr>
        <p:spPr>
          <a:xfrm>
            <a:off x="1417320" y="1325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頼む前に、目的を一文で書く</a:t>
            </a:r>
            <a:endParaRPr lang="en-US" sz="1800" dirty="0"/>
          </a:p>
        </p:txBody>
      </p:sp>
      <p:sp>
        <p:nvSpPr>
          <p:cNvPr id="6" name="Act sub 1"/>
          <p:cNvSpPr txBox="1"/>
          <p:nvPr/>
        </p:nvSpPr>
        <p:spPr>
          <a:xfrm>
            <a:off x="1417320" y="1691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誰のために、何を、どこまで</a:t>
            </a:r>
            <a:endParaRPr lang="en-US" sz="1200" dirty="0"/>
          </a:p>
        </p:txBody>
      </p:sp>
      <p:sp>
        <p:nvSpPr>
          <p:cNvPr id="7" name="Act circle 2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Act num 2"/>
          <p:cNvSpPr txBox="1"/>
          <p:nvPr/>
        </p:nvSpPr>
        <p:spPr>
          <a:xfrm>
            <a:off x="6400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Act head 2"/>
          <p:cNvSpPr txBox="1"/>
          <p:nvPr/>
        </p:nvSpPr>
        <p:spPr>
          <a:xfrm>
            <a:off x="1417320" y="2194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出力は必ず自分で確かめる</a:t>
            </a:r>
            <a:endParaRPr lang="en-US" sz="1800" dirty="0"/>
          </a:p>
        </p:txBody>
      </p:sp>
      <p:sp>
        <p:nvSpPr>
          <p:cNvPr id="10" name="Act sub 2"/>
          <p:cNvSpPr txBox="1"/>
          <p:nvPr/>
        </p:nvSpPr>
        <p:spPr>
          <a:xfrm>
            <a:off x="141732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動かす、根拠を当たる、数を数える</a:t>
            </a:r>
            <a:endParaRPr lang="en-US" sz="1200" dirty="0"/>
          </a:p>
        </p:txBody>
      </p:sp>
      <p:sp>
        <p:nvSpPr>
          <p:cNvPr id="11" name="Act circle 3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Act num 3"/>
          <p:cNvSpPr txBox="1"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Act head 3"/>
          <p:cNvSpPr txBox="1"/>
          <p:nvPr/>
        </p:nvSpPr>
        <p:spPr>
          <a:xfrm>
            <a:off x="141732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一回で終わらせず、直して頼み直す</a:t>
            </a:r>
            <a:endParaRPr lang="en-US" sz="1800" dirty="0"/>
          </a:p>
        </p:txBody>
      </p:sp>
      <p:sp>
        <p:nvSpPr>
          <p:cNvPr id="14" name="Act sub 3"/>
          <p:cNvSpPr txBox="1"/>
          <p:nvPr/>
        </p:nvSpPr>
        <p:spPr>
          <a:xfrm>
            <a:off x="141732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対話は編集作業</a:t>
            </a:r>
            <a:endParaRPr lang="en-US" sz="1200" dirty="0"/>
          </a:p>
        </p:txBody>
      </p:sp>
      <p:sp>
        <p:nvSpPr>
          <p:cNvPr id="15" name="Closing line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AIを使う人は、問いと検証を自分で持っている。</a:t>
            </a:r>
            <a:endParaRPr lang="en-US" sz="16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Skills Lecture">
  <a:themeElements>
    <a:clrScheme name="Claude Skills Lecture">
      <a:dk1>
        <a:srgbClr val="1C2B33"/>
      </a:dk1>
      <a:lt1>
        <a:srgbClr val="FFFFFF"/>
      </a:lt1>
      <a:dk2>
        <a:srgbClr val="0F4C5C"/>
      </a:dk2>
      <a:lt2>
        <a:srgbClr val="EEF4F5"/>
      </a:lt2>
      <a:accent1>
        <a:srgbClr val="E36414"/>
      </a:accent1>
      <a:accent2>
        <a:srgbClr val="2A9D8F"/>
      </a:accent2>
      <a:accent3>
        <a:srgbClr val="B23A48"/>
      </a:accent3>
      <a:accent4>
        <a:srgbClr val="5C6B73"/>
      </a:accent4>
      <a:accent5>
        <a:srgbClr val="F6D8C3"/>
      </a:accent5>
      <a:accent6>
        <a:srgbClr val="C9DEE2"/>
      </a:accent6>
      <a:hlink>
        <a:srgbClr val="E36414"/>
      </a:hlink>
      <a:folHlink>
        <a:srgbClr val="9A3B3B"/>
      </a:folHlink>
    </a:clrScheme>
    <a:fontScheme name="Claude Skills Lecture">
      <a:majorFont>
        <a:latin typeface="Meiryo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Claudeを使いこなすために必要なスキル</dc:title>
  <dc:subject>PptxGenJS Presentation</dc:subject>
  <dc:creator>講義資料</dc:creator>
  <cp:lastModifiedBy>講義資料</cp:lastModifiedBy>
  <cp:revision>1</cp:revision>
  <dcterms:created xsi:type="dcterms:W3CDTF">2026-10-28T02:04:16Z</dcterms:created>
  <dcterms:modified xsi:type="dcterms:W3CDTF">2026-10-28T02:04:16Z</dcterms:modified>
</cp:coreProperties>
</file>