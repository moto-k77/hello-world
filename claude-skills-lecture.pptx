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450fa530-83c8-0831-3f57-cecba53c5495}">
          <p14:sldIdLst>
            <p14:sldId id="256"/>
            <p14:sldId id="257"/>
            <p14:sldId id="258"/>
          </p14:sldIdLst>
        </p14:section>
        <p14:section name="6つのスキル" id="{b46ea51a-3964-3b0b-1a55-1ba51d5ad5aa}">
          <p14:sldIdLst>
            <p14:sldId id="259"/>
            <p14:sldId id="260"/>
            <p14:sldId id="261"/>
            <p14:sldId id="262"/>
          </p14:sldIdLst>
        </p14:section>
        <p14:section name="使われる人の特徴" id="{712ea7c5-db3c-0fea-f800-907c93cd6d35}">
          <p14:sldIdLst>
            <p14:sldId id="263"/>
            <p14:sldId id="264"/>
            <p14:sldId id="265"/>
          </p14:sldIdLst>
        </p14:section>
        <p14:section name="演習とまとめ" id="{33f4aae5-d101-fb34-b783-f5e8cb45d6b6}">
          <p14:sldIdLst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本日のテーマはAIツール、特にClaudeを「使いこなす」とはどういうことか。道具の性能ではなく、使う側のスキルと姿勢で成果が決まることを伝える。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4部構成。前半で考え方の軸を示し、後半で具体的なスキルと落とし穴、最後に演習で体感してもらう。所要時間の目安は60分。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この対比が講義全体の軸。以降のスキルも落とし穴も、すべてこの一点に集約されることを先に伝える。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セクション1。6つのスキルを3つずつ2枚で紹介する。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「新入社員に仕事を頼む」と同じ、と説明すると伝わりやすい。目的と文脈がない依頼は人間相手でも失敗する。検証は最も軽視されがちだが最も重要。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4〜6は一朝一夕には身につかないが、意識するだけで変わる。特に「やり直し」は心理的ハードルが低いので、すぐ実践を促す。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実際に両方を講義中にデモすると効果が高い。右側の指示には「目的（役員会の事前資料）」「文脈（決定・未決）」「制約（3行以内、専門用語なし）」が入っていることを指し示す。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セクション2。誰にでも当てはまる瞬間がある、と前置きして受講者の防御反応を下げる。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6つの特徴は、前のセクションの6つのスキルの裏返し。どれか一つでも心当たりがあれば、それが改善の入口になる。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限界は「使わない理由」ではなく「どう使うかの指針」。検証が必要な場面を事前に見分けられるようになることが狙い。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セクション3。診断課題は30分、演習は15分、まとめは5分を目安に。診断課題の配布資料と講師用解答は別ファイル。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課題の配布資料と講師用解答は別ファイル。課題Aの誤りは「日付の違い」「元資料と逆の内容」「存在しない数字」の3種類。参加者には「正解を当てるテストではない」と伝え、普段のやり方で取り組んでもらう。種明かしは6つのスキルの後に行うと効果が高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採点は提出物3点を見れば10分程度。A3だけは本人に「Claudeに何を渡したか」を聞く。本人に返すときは×が集中した区分と、対応するスキルを一言添える。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演習のポイントは3番目のステップ。差が「見える」だけでなく「言語化できる」ことで、次の依頼から自分で再現できるようになる。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最後に講義冒頭の軸に戻って締める。3つの行動はどれも今日から実践できるものに絞っている。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Claudeを使いこなすスキル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Claudeを使いこなすために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必要なスキル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AIを使う人、AIに使われる人</a:t>
            </a:r>
            <a:endParaRPr lang="en-US" sz="1800" dirty="0"/>
          </a:p>
        </p:txBody>
      </p:sp>
      <p:sp>
        <p:nvSpPr>
          <p:cNvPr id="4" name="Robot circle"/>
          <p:cNvSpPr/>
          <p:nvPr/>
        </p:nvSpPr>
        <p:spPr>
          <a:xfrm>
            <a:off x="7223760" y="548640"/>
            <a:ext cx="1188720" cy="11887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Robo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2827" y="857707"/>
            <a:ext cx="570586" cy="570586"/>
          </a:xfrm>
          <a:prstGeom prst="rect">
            <a:avLst/>
          </a:prstGeom>
        </p:spPr>
      </p:pic>
      <p:sp>
        <p:nvSpPr>
          <p:cNvPr id="6" name="Credit"/>
          <p:cNvSpPr txBox="1"/>
          <p:nvPr/>
        </p:nvSpPr>
        <p:spPr>
          <a:xfrm>
            <a:off x="64008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社内講義資料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本日の内容</a:t>
            </a:r>
            <a:endParaRPr lang="en-US" sz="2600" dirty="0"/>
          </a:p>
        </p:txBody>
      </p:sp>
      <p:sp>
        <p:nvSpPr>
          <p:cNvPr id="3" name="Agenda card 01"/>
          <p:cNvSpPr/>
          <p:nvPr/>
        </p:nvSpPr>
        <p:spPr>
          <a:xfrm>
            <a:off x="45720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genda 01 circle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Agenda 0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766621"/>
            <a:ext cx="307238" cy="307238"/>
          </a:xfrm>
          <a:prstGeom prst="rect">
            <a:avLst/>
          </a:prstGeom>
        </p:spPr>
      </p:pic>
      <p:sp>
        <p:nvSpPr>
          <p:cNvPr id="6" name="Agenda num 01"/>
          <p:cNvSpPr txBox="1"/>
          <p:nvPr/>
        </p:nvSpPr>
        <p:spPr>
          <a:xfrm>
            <a:off x="146304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01</a:t>
            </a:r>
            <a:endParaRPr lang="en-US" sz="2400" dirty="0"/>
          </a:p>
        </p:txBody>
      </p:sp>
      <p:sp>
        <p:nvSpPr>
          <p:cNvPr id="7" name="Agenda head 01"/>
          <p:cNvSpPr txBox="1"/>
          <p:nvPr/>
        </p:nvSpPr>
        <p:spPr>
          <a:xfrm>
            <a:off x="68580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一つの軸</a:t>
            </a:r>
            <a:endParaRPr lang="en-US" sz="1600" dirty="0"/>
          </a:p>
        </p:txBody>
      </p:sp>
      <p:sp>
        <p:nvSpPr>
          <p:cNvPr id="8" name="Agenda desc 01"/>
          <p:cNvSpPr txBox="1"/>
          <p:nvPr/>
        </p:nvSpPr>
        <p:spPr>
          <a:xfrm>
            <a:off x="68580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「使う人」と「使われる人」の違いはどこにあるか</a:t>
            </a:r>
            <a:endParaRPr lang="en-US" sz="1200" dirty="0"/>
          </a:p>
        </p:txBody>
      </p:sp>
      <p:sp>
        <p:nvSpPr>
          <p:cNvPr id="9" name="Agenda card 02"/>
          <p:cNvSpPr/>
          <p:nvPr/>
        </p:nvSpPr>
        <p:spPr>
          <a:xfrm>
            <a:off x="256032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genda 02 circle"/>
          <p:cNvSpPr/>
          <p:nvPr/>
        </p:nvSpPr>
        <p:spPr>
          <a:xfrm>
            <a:off x="278892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Agenda 0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5341" y="1766621"/>
            <a:ext cx="307238" cy="307238"/>
          </a:xfrm>
          <a:prstGeom prst="rect">
            <a:avLst/>
          </a:prstGeom>
        </p:spPr>
      </p:pic>
      <p:sp>
        <p:nvSpPr>
          <p:cNvPr id="12" name="Agenda num 02"/>
          <p:cNvSpPr txBox="1"/>
          <p:nvPr/>
        </p:nvSpPr>
        <p:spPr>
          <a:xfrm>
            <a:off x="356616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02</a:t>
            </a:r>
            <a:endParaRPr lang="en-US" sz="2400" dirty="0"/>
          </a:p>
        </p:txBody>
      </p:sp>
      <p:sp>
        <p:nvSpPr>
          <p:cNvPr id="13" name="Agenda head 02"/>
          <p:cNvSpPr txBox="1"/>
          <p:nvPr/>
        </p:nvSpPr>
        <p:spPr>
          <a:xfrm>
            <a:off x="278892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6つのスキル</a:t>
            </a:r>
            <a:endParaRPr lang="en-US" sz="1600" dirty="0"/>
          </a:p>
        </p:txBody>
      </p:sp>
      <p:sp>
        <p:nvSpPr>
          <p:cNvPr id="14" name="Agenda desc 02"/>
          <p:cNvSpPr txBox="1"/>
          <p:nvPr/>
        </p:nvSpPr>
        <p:spPr>
          <a:xfrm>
            <a:off x="278892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Claudeを使いこなす人が持っているもの</a:t>
            </a:r>
            <a:endParaRPr lang="en-US" sz="1200" dirty="0"/>
          </a:p>
        </p:txBody>
      </p:sp>
      <p:sp>
        <p:nvSpPr>
          <p:cNvPr id="15" name="Agenda card 03"/>
          <p:cNvSpPr/>
          <p:nvPr/>
        </p:nvSpPr>
        <p:spPr>
          <a:xfrm>
            <a:off x="466344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genda 03 circle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Agenda 0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461" y="1766621"/>
            <a:ext cx="307238" cy="307238"/>
          </a:xfrm>
          <a:prstGeom prst="rect">
            <a:avLst/>
          </a:prstGeom>
        </p:spPr>
      </p:pic>
      <p:sp>
        <p:nvSpPr>
          <p:cNvPr id="18" name="Agenda num 03"/>
          <p:cNvSpPr txBox="1"/>
          <p:nvPr/>
        </p:nvSpPr>
        <p:spPr>
          <a:xfrm>
            <a:off x="566928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03</a:t>
            </a:r>
            <a:endParaRPr lang="en-US" sz="2400" dirty="0"/>
          </a:p>
        </p:txBody>
      </p:sp>
      <p:sp>
        <p:nvSpPr>
          <p:cNvPr id="19" name="Agenda head 03"/>
          <p:cNvSpPr txBox="1"/>
          <p:nvPr/>
        </p:nvSpPr>
        <p:spPr>
          <a:xfrm>
            <a:off x="489204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使われる人とは</a:t>
            </a:r>
            <a:endParaRPr lang="en-US" sz="1600" dirty="0"/>
          </a:p>
        </p:txBody>
      </p:sp>
      <p:sp>
        <p:nvSpPr>
          <p:cNvPr id="20" name="Agenda desc 03"/>
          <p:cNvSpPr txBox="1"/>
          <p:nvPr/>
        </p:nvSpPr>
        <p:spPr>
          <a:xfrm>
            <a:off x="489204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陥りやすい落とし穴と、AIの限界</a:t>
            </a:r>
            <a:endParaRPr lang="en-US" sz="1200" dirty="0"/>
          </a:p>
        </p:txBody>
      </p:sp>
      <p:sp>
        <p:nvSpPr>
          <p:cNvPr id="21" name="Agenda card 04"/>
          <p:cNvSpPr/>
          <p:nvPr/>
        </p:nvSpPr>
        <p:spPr>
          <a:xfrm>
            <a:off x="6766560" y="1325880"/>
            <a:ext cx="1920240" cy="30175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genda 04 circle"/>
          <p:cNvSpPr/>
          <p:nvPr/>
        </p:nvSpPr>
        <p:spPr>
          <a:xfrm>
            <a:off x="69951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Agenda 0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1581" y="1766621"/>
            <a:ext cx="307238" cy="307238"/>
          </a:xfrm>
          <a:prstGeom prst="rect">
            <a:avLst/>
          </a:prstGeom>
        </p:spPr>
      </p:pic>
      <p:sp>
        <p:nvSpPr>
          <p:cNvPr id="24" name="Agenda num 04"/>
          <p:cNvSpPr txBox="1"/>
          <p:nvPr/>
        </p:nvSpPr>
        <p:spPr>
          <a:xfrm>
            <a:off x="777240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04</a:t>
            </a:r>
            <a:endParaRPr lang="en-US" sz="2400" dirty="0"/>
          </a:p>
        </p:txBody>
      </p:sp>
      <p:sp>
        <p:nvSpPr>
          <p:cNvPr id="25" name="Agenda head 04"/>
          <p:cNvSpPr txBox="1"/>
          <p:nvPr/>
        </p:nvSpPr>
        <p:spPr>
          <a:xfrm>
            <a:off x="6995160" y="24231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診断と演習</a:t>
            </a:r>
            <a:endParaRPr lang="en-US" sz="1600" dirty="0"/>
          </a:p>
        </p:txBody>
      </p:sp>
      <p:sp>
        <p:nvSpPr>
          <p:cNvPr id="26" name="Agenda desc 04"/>
          <p:cNvSpPr txBox="1"/>
          <p:nvPr/>
        </p:nvSpPr>
        <p:spPr>
          <a:xfrm>
            <a:off x="6995160" y="292608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診断課題で今の傾向を知り、演習で練習して明日の行動に落とす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結論：違いは道具ではなく、判断を手放すかどうか</a:t>
            </a:r>
            <a:endParaRPr lang="en-US" sz="2600" dirty="0"/>
          </a:p>
        </p:txBody>
      </p:sp>
      <p:sp>
        <p:nvSpPr>
          <p:cNvPr id="3" name="Card uses"/>
          <p:cNvSpPr/>
          <p:nvPr/>
        </p:nvSpPr>
        <p:spPr>
          <a:xfrm>
            <a:off x="457200" y="1280160"/>
            <a:ext cx="39319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Uses circle"/>
          <p:cNvSpPr/>
          <p:nvPr/>
        </p:nvSpPr>
        <p:spPr>
          <a:xfrm>
            <a:off x="731520" y="15544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Us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744675"/>
            <a:ext cx="351130" cy="351130"/>
          </a:xfrm>
          <a:prstGeom prst="rect">
            <a:avLst/>
          </a:prstGeom>
        </p:spPr>
      </p:pic>
      <p:sp>
        <p:nvSpPr>
          <p:cNvPr id="6" name="Uses head"/>
          <p:cNvSpPr txBox="1"/>
          <p:nvPr/>
        </p:nvSpPr>
        <p:spPr>
          <a:xfrm>
            <a:off x="1645920" y="1554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AIを使う人</a:t>
            </a:r>
            <a:endParaRPr lang="en-US" sz="2000" dirty="0"/>
          </a:p>
        </p:txBody>
      </p:sp>
      <p:sp>
        <p:nvSpPr>
          <p:cNvPr id="7" name="Uses body"/>
          <p:cNvSpPr txBox="1"/>
          <p:nvPr/>
        </p:nvSpPr>
        <p:spPr>
          <a:xfrm>
            <a:off x="731520" y="2468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問いと検証を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自分で持っている</a:t>
            </a:r>
            <a:endParaRPr lang="en-US" sz="2000" dirty="0"/>
          </a:p>
        </p:txBody>
      </p:sp>
      <p:sp>
        <p:nvSpPr>
          <p:cNvPr id="8" name="Uses sub"/>
          <p:cNvSpPr txBox="1"/>
          <p:nvPr/>
        </p:nvSpPr>
        <p:spPr>
          <a:xfrm>
            <a:off x="73152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AIは思考を速める道具。最終判断は自分に残す</a:t>
            </a:r>
            <a:endParaRPr lang="en-US" sz="1200" dirty="0"/>
          </a:p>
        </p:txBody>
      </p:sp>
      <p:sp>
        <p:nvSpPr>
          <p:cNvPr id="9" name="Card usedby"/>
          <p:cNvSpPr/>
          <p:nvPr/>
        </p:nvSpPr>
        <p:spPr>
          <a:xfrm>
            <a:off x="4754880" y="1280160"/>
            <a:ext cx="393192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Usedby circle"/>
          <p:cNvSpPr/>
          <p:nvPr/>
        </p:nvSpPr>
        <p:spPr>
          <a:xfrm>
            <a:off x="5029200" y="15544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Usedby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395" y="1744675"/>
            <a:ext cx="351130" cy="351130"/>
          </a:xfrm>
          <a:prstGeom prst="rect">
            <a:avLst/>
          </a:prstGeom>
        </p:spPr>
      </p:pic>
      <p:sp>
        <p:nvSpPr>
          <p:cNvPr id="12" name="Usedby head"/>
          <p:cNvSpPr txBox="1"/>
          <p:nvPr/>
        </p:nvSpPr>
        <p:spPr>
          <a:xfrm>
            <a:off x="59436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AIに使われる人</a:t>
            </a:r>
            <a:endParaRPr lang="en-US" sz="2000" dirty="0"/>
          </a:p>
        </p:txBody>
      </p:sp>
      <p:sp>
        <p:nvSpPr>
          <p:cNvPr id="13" name="Usedby body"/>
          <p:cNvSpPr txBox="1"/>
          <p:nvPr/>
        </p:nvSpPr>
        <p:spPr>
          <a:xfrm>
            <a:off x="5029200" y="24688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判断を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手放している</a:t>
            </a:r>
            <a:endParaRPr lang="en-US" sz="2000" dirty="0"/>
          </a:p>
        </p:txBody>
      </p:sp>
      <p:sp>
        <p:nvSpPr>
          <p:cNvPr id="14" name="Usedby sub"/>
          <p:cNvSpPr txBox="1"/>
          <p:nvPr/>
        </p:nvSpPr>
        <p:spPr>
          <a:xfrm>
            <a:off x="502920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AIの出力が自分の答えになり、責任だけが残る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同じツール、同じモデルでも、成果は使う側の姿勢で大きく変わる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Claudeを使いこなす人に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必要な6つのスキル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スキル 1〜3：頼む前に決まっていること</a:t>
            </a:r>
            <a:endParaRPr lang="en-US" sz="2600" dirty="0"/>
          </a:p>
        </p:txBody>
      </p:sp>
      <p:sp>
        <p:nvSpPr>
          <p:cNvPr id="3" name="Skill card 1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kill 1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kill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Skill num 1"/>
          <p:cNvSpPr txBox="1"/>
          <p:nvPr/>
        </p:nvSpPr>
        <p:spPr>
          <a:xfrm>
            <a:off x="1508760" y="14630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kill head 1"/>
          <p:cNvSpPr txBox="1"/>
          <p:nvPr/>
        </p:nvSpPr>
        <p:spPr>
          <a:xfrm>
            <a:off x="196596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目的を言語化する</a:t>
            </a:r>
            <a:endParaRPr lang="en-US" sz="1700" dirty="0"/>
          </a:p>
        </p:txBody>
      </p:sp>
      <p:sp>
        <p:nvSpPr>
          <p:cNvPr id="8" name="Skill desc 1"/>
          <p:cNvSpPr txBox="1"/>
          <p:nvPr/>
        </p:nvSpPr>
        <p:spPr>
          <a:xfrm>
            <a:off x="448056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「何を」「誰のために」「どこまで」を一文で言える。曖昧な指示からは曖昧な成果物しか生まれない</a:t>
            </a:r>
            <a:endParaRPr lang="en-US" sz="1250" dirty="0"/>
          </a:p>
        </p:txBody>
      </p:sp>
      <p:sp>
        <p:nvSpPr>
          <p:cNvPr id="9" name="Skill card 2"/>
          <p:cNvSpPr/>
          <p:nvPr/>
        </p:nvSpPr>
        <p:spPr>
          <a:xfrm>
            <a:off x="457200" y="242316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kill 2 circle"/>
          <p:cNvSpPr/>
          <p:nvPr/>
        </p:nvSpPr>
        <p:spPr>
          <a:xfrm>
            <a:off x="685800" y="2651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kill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818181"/>
            <a:ext cx="307238" cy="307238"/>
          </a:xfrm>
          <a:prstGeom prst="rect">
            <a:avLst/>
          </a:prstGeom>
        </p:spPr>
      </p:pic>
      <p:sp>
        <p:nvSpPr>
          <p:cNvPr id="12" name="Skill num 2"/>
          <p:cNvSpPr txBox="1"/>
          <p:nvPr/>
        </p:nvSpPr>
        <p:spPr>
          <a:xfrm>
            <a:off x="1508760" y="26517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Skill head 2"/>
          <p:cNvSpPr txBox="1"/>
          <p:nvPr/>
        </p:nvSpPr>
        <p:spPr>
          <a:xfrm>
            <a:off x="196596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文脈を渡す</a:t>
            </a:r>
            <a:endParaRPr lang="en-US" sz="1700" dirty="0"/>
          </a:p>
        </p:txBody>
      </p:sp>
      <p:sp>
        <p:nvSpPr>
          <p:cNvPr id="14" name="Skill desc 2"/>
          <p:cNvSpPr txBox="1"/>
          <p:nvPr/>
        </p:nvSpPr>
        <p:spPr>
          <a:xfrm>
            <a:off x="4480560" y="25603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前提、制約、既存資料、やってほしくないことを最初に渡す。AIは渡されていない情報を知らない</a:t>
            </a:r>
            <a:endParaRPr lang="en-US" sz="1250" dirty="0"/>
          </a:p>
        </p:txBody>
      </p:sp>
      <p:sp>
        <p:nvSpPr>
          <p:cNvPr id="15" name="Skill card 3"/>
          <p:cNvSpPr/>
          <p:nvPr/>
        </p:nvSpPr>
        <p:spPr>
          <a:xfrm>
            <a:off x="457200" y="361188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kill 3 circle"/>
          <p:cNvSpPr/>
          <p:nvPr/>
        </p:nvSpPr>
        <p:spPr>
          <a:xfrm>
            <a:off x="685800" y="3840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kill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4006901"/>
            <a:ext cx="307238" cy="307238"/>
          </a:xfrm>
          <a:prstGeom prst="rect">
            <a:avLst/>
          </a:prstGeom>
        </p:spPr>
      </p:pic>
      <p:sp>
        <p:nvSpPr>
          <p:cNvPr id="18" name="Skill num 3"/>
          <p:cNvSpPr txBox="1"/>
          <p:nvPr/>
        </p:nvSpPr>
        <p:spPr>
          <a:xfrm>
            <a:off x="1508760" y="38404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9" name="Skill head 3"/>
          <p:cNvSpPr txBox="1"/>
          <p:nvPr/>
        </p:nvSpPr>
        <p:spPr>
          <a:xfrm>
            <a:off x="1965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検証する</a:t>
            </a:r>
            <a:endParaRPr lang="en-US" sz="1700" dirty="0"/>
          </a:p>
        </p:txBody>
      </p:sp>
      <p:sp>
        <p:nvSpPr>
          <p:cNvPr id="20" name="Skill desc 3"/>
          <p:cNvSpPr txBox="1"/>
          <p:nvPr/>
        </p:nvSpPr>
        <p:spPr>
          <a:xfrm>
            <a:off x="448056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出力の正しさを自分で確かめる手段を持つ。コードなら動かす、文章なら根拠を当たる。自信ありげな間違いを見抜く唯一の方法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スキル 4〜6：成果の質を左右する土台</a:t>
            </a:r>
            <a:endParaRPr lang="en-US" sz="2600" dirty="0"/>
          </a:p>
        </p:txBody>
      </p:sp>
      <p:sp>
        <p:nvSpPr>
          <p:cNvPr id="3" name="Skill card 4"/>
          <p:cNvSpPr/>
          <p:nvPr/>
        </p:nvSpPr>
        <p:spPr>
          <a:xfrm>
            <a:off x="457200" y="123444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kill 4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Skill 4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629461"/>
            <a:ext cx="307238" cy="307238"/>
          </a:xfrm>
          <a:prstGeom prst="rect">
            <a:avLst/>
          </a:prstGeom>
        </p:spPr>
      </p:pic>
      <p:sp>
        <p:nvSpPr>
          <p:cNvPr id="6" name="Skill num 4"/>
          <p:cNvSpPr txBox="1"/>
          <p:nvPr/>
        </p:nvSpPr>
        <p:spPr>
          <a:xfrm>
            <a:off x="1508760" y="146304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7" name="Skill head 4"/>
          <p:cNvSpPr txBox="1"/>
          <p:nvPr/>
        </p:nvSpPr>
        <p:spPr>
          <a:xfrm>
            <a:off x="1965960" y="1371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分解する</a:t>
            </a:r>
            <a:endParaRPr lang="en-US" sz="1700" dirty="0"/>
          </a:p>
        </p:txBody>
      </p:sp>
      <p:sp>
        <p:nvSpPr>
          <p:cNvPr id="8" name="Skill desc 4"/>
          <p:cNvSpPr txBox="1"/>
          <p:nvPr/>
        </p:nvSpPr>
        <p:spPr>
          <a:xfrm>
            <a:off x="448056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大きな仕事を、AIに任せる単位と自分が判断する単位に切り分ける。全部丸投げも、全部自分でやるのも非効率</a:t>
            </a:r>
            <a:endParaRPr lang="en-US" sz="1250" dirty="0"/>
          </a:p>
        </p:txBody>
      </p:sp>
      <p:sp>
        <p:nvSpPr>
          <p:cNvPr id="9" name="Skill card 5"/>
          <p:cNvSpPr/>
          <p:nvPr/>
        </p:nvSpPr>
        <p:spPr>
          <a:xfrm>
            <a:off x="457200" y="242316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kill 5 circle"/>
          <p:cNvSpPr/>
          <p:nvPr/>
        </p:nvSpPr>
        <p:spPr>
          <a:xfrm>
            <a:off x="685800" y="2651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Skill 5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818181"/>
            <a:ext cx="307238" cy="307238"/>
          </a:xfrm>
          <a:prstGeom prst="rect">
            <a:avLst/>
          </a:prstGeom>
        </p:spPr>
      </p:pic>
      <p:sp>
        <p:nvSpPr>
          <p:cNvPr id="12" name="Skill num 5"/>
          <p:cNvSpPr txBox="1"/>
          <p:nvPr/>
        </p:nvSpPr>
        <p:spPr>
          <a:xfrm>
            <a:off x="1508760" y="26517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13" name="Skill head 5"/>
          <p:cNvSpPr txBox="1"/>
          <p:nvPr/>
        </p:nvSpPr>
        <p:spPr>
          <a:xfrm>
            <a:off x="196596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領域の基礎知識</a:t>
            </a:r>
            <a:endParaRPr lang="en-US" sz="1700" dirty="0"/>
          </a:p>
        </p:txBody>
      </p:sp>
      <p:sp>
        <p:nvSpPr>
          <p:cNvPr id="14" name="Skill desc 5"/>
          <p:cNvSpPr txBox="1"/>
          <p:nvPr/>
        </p:nvSpPr>
        <p:spPr>
          <a:xfrm>
            <a:off x="4480560" y="25603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基礎が分かる分野では出力の質を判断でき、良い質問も作れる。知識ゼロの分野では「使う」ではなく「信じる」しかなくなる</a:t>
            </a:r>
            <a:endParaRPr lang="en-US" sz="1250" dirty="0"/>
          </a:p>
        </p:txBody>
      </p:sp>
      <p:sp>
        <p:nvSpPr>
          <p:cNvPr id="15" name="Skill card 6"/>
          <p:cNvSpPr/>
          <p:nvPr/>
        </p:nvSpPr>
        <p:spPr>
          <a:xfrm>
            <a:off x="457200" y="3611880"/>
            <a:ext cx="822960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kill 6 circle"/>
          <p:cNvSpPr/>
          <p:nvPr/>
        </p:nvSpPr>
        <p:spPr>
          <a:xfrm>
            <a:off x="685800" y="38404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Skill 6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4006901"/>
            <a:ext cx="307238" cy="307238"/>
          </a:xfrm>
          <a:prstGeom prst="rect">
            <a:avLst/>
          </a:prstGeom>
        </p:spPr>
      </p:pic>
      <p:sp>
        <p:nvSpPr>
          <p:cNvPr id="18" name="Skill num 6"/>
          <p:cNvSpPr txBox="1"/>
          <p:nvPr/>
        </p:nvSpPr>
        <p:spPr>
          <a:xfrm>
            <a:off x="1508760" y="38404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6</a:t>
            </a:r>
            <a:endParaRPr lang="en-US" sz="2200" dirty="0"/>
          </a:p>
        </p:txBody>
      </p:sp>
      <p:sp>
        <p:nvSpPr>
          <p:cNvPr id="19" name="Skill head 6"/>
          <p:cNvSpPr txBox="1"/>
          <p:nvPr/>
        </p:nvSpPr>
        <p:spPr>
          <a:xfrm>
            <a:off x="1965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やり直しを恐れない</a:t>
            </a:r>
            <a:endParaRPr lang="en-US" sz="1700" dirty="0"/>
          </a:p>
        </p:txBody>
      </p:sp>
      <p:sp>
        <p:nvSpPr>
          <p:cNvPr id="20" name="Skill desc 6"/>
          <p:cNvSpPr txBox="1"/>
          <p:nvPr/>
        </p:nvSpPr>
        <p:spPr>
          <a:xfrm>
            <a:off x="4480560" y="37490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一回目の出力を完成品と思わず、方向を修正して再度頼む。対話は編集作業だと捉える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指示の差がそのまま成果の差になる</a:t>
            </a:r>
            <a:endParaRPr lang="en-US" sz="2600" dirty="0"/>
          </a:p>
        </p:txBody>
      </p:sp>
      <p:sp>
        <p:nvSpPr>
          <p:cNvPr id="3" name="Before card"/>
          <p:cNvSpPr/>
          <p:nvPr/>
        </p:nvSpPr>
        <p:spPr>
          <a:xfrm>
            <a:off x="457200" y="1234440"/>
            <a:ext cx="37947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efore head"/>
          <p:cNvSpPr txBox="1"/>
          <p:nvPr/>
        </p:nvSpPr>
        <p:spPr>
          <a:xfrm>
            <a:off x="68580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一行の指示</a:t>
            </a:r>
            <a:endParaRPr lang="en-US" sz="1600" dirty="0"/>
          </a:p>
        </p:txBody>
      </p:sp>
      <p:sp>
        <p:nvSpPr>
          <p:cNvPr id="5" name="Before prompt"/>
          <p:cNvSpPr txBox="1"/>
          <p:nvPr/>
        </p:nvSpPr>
        <p:spPr>
          <a:xfrm>
            <a:off x="685800" y="1920240"/>
            <a:ext cx="3337560" cy="8229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「この議事録、いい感じにまとめて」</a:t>
            </a:r>
            <a:endParaRPr lang="en-US" sz="1400" dirty="0"/>
          </a:p>
        </p:txBody>
      </p:sp>
      <p:sp>
        <p:nvSpPr>
          <p:cNvPr id="6" name="Before result"/>
          <p:cNvSpPr txBox="1"/>
          <p:nvPr/>
        </p:nvSpPr>
        <p:spPr>
          <a:xfrm>
            <a:off x="685800" y="292608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結果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無難で薄い要約が返る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誰向けか、何に使うかが反映されない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どこを直せばよいか自分でも分からない</a:t>
            </a:r>
            <a:endParaRPr lang="en-US" sz="1200" dirty="0"/>
          </a:p>
        </p:txBody>
      </p:sp>
      <p:pic>
        <p:nvPicPr>
          <p:cNvPr id="7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0832" y="2606040"/>
            <a:ext cx="411480" cy="411480"/>
          </a:xfrm>
          <a:prstGeom prst="rect">
            <a:avLst/>
          </a:prstGeom>
        </p:spPr>
      </p:pic>
      <p:sp>
        <p:nvSpPr>
          <p:cNvPr id="8" name="After card"/>
          <p:cNvSpPr/>
          <p:nvPr/>
        </p:nvSpPr>
        <p:spPr>
          <a:xfrm>
            <a:off x="4892040" y="1234440"/>
            <a:ext cx="37947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fter head"/>
          <p:cNvSpPr txBox="1"/>
          <p:nvPr/>
        </p:nvSpPr>
        <p:spPr>
          <a:xfrm>
            <a:off x="5120640" y="14173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目的・文脈・制約を添えた指示</a:t>
            </a:r>
            <a:endParaRPr lang="en-US" sz="1600" dirty="0"/>
          </a:p>
        </p:txBody>
      </p:sp>
      <p:sp>
        <p:nvSpPr>
          <p:cNvPr id="10" name="After prompt"/>
          <p:cNvSpPr txBox="1"/>
          <p:nvPr/>
        </p:nvSpPr>
        <p:spPr>
          <a:xfrm>
            <a:off x="5120640" y="1920240"/>
            <a:ext cx="3337560" cy="82296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「来週の役員会の事前資料にする。決定事項と未決事項を分け、各3行以内。専門用語は避けて」</a:t>
            </a:r>
            <a:endParaRPr lang="en-US" sz="1200" dirty="0"/>
          </a:p>
        </p:txBody>
      </p:sp>
      <p:sp>
        <p:nvSpPr>
          <p:cNvPr id="11" name="After result"/>
          <p:cNvSpPr txBox="1"/>
          <p:nvPr/>
        </p:nvSpPr>
        <p:spPr>
          <a:xfrm>
            <a:off x="5120640" y="292608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2"/>
                </a:solidFill>
              </a:rPr>
              <a:t>結果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ほぼそのまま使える形で返る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読み手と用途に合った粒度になる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直す箇所が明確で、修正依頼も一言で済む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AIに使われる人の特徴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こんな使い方になっていませんか</a:t>
            </a:r>
            <a:endParaRPr lang="en-US" sz="2600" dirty="0"/>
          </a:p>
        </p:txBody>
      </p:sp>
      <p:sp>
        <p:nvSpPr>
          <p:cNvPr id="3" name="Trait card 1"/>
          <p:cNvSpPr/>
          <p:nvPr/>
        </p:nvSpPr>
        <p:spPr>
          <a:xfrm>
            <a:off x="45720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ait 1 circle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Tra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502359"/>
            <a:ext cx="241402" cy="241402"/>
          </a:xfrm>
          <a:prstGeom prst="rect">
            <a:avLst/>
          </a:prstGeom>
        </p:spPr>
      </p:pic>
      <p:sp>
        <p:nvSpPr>
          <p:cNvPr id="6" name="Trait head 1"/>
          <p:cNvSpPr txBox="1"/>
          <p:nvPr/>
        </p:nvSpPr>
        <p:spPr>
          <a:xfrm>
            <a:off x="123444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出力をそのまま使う</a:t>
            </a:r>
            <a:endParaRPr lang="en-US" sz="1300" dirty="0"/>
          </a:p>
        </p:txBody>
      </p:sp>
      <p:sp>
        <p:nvSpPr>
          <p:cNvPr id="7" name="Trait desc 1"/>
          <p:cNvSpPr txBox="1"/>
          <p:nvPr/>
        </p:nvSpPr>
        <p:spPr>
          <a:xfrm>
            <a:off x="64008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読まずに貼る、動かさずに提出する。責任は自分にあることを忘れている</a:t>
            </a:r>
            <a:endParaRPr lang="en-US" sz="1100" dirty="0"/>
          </a:p>
        </p:txBody>
      </p:sp>
      <p:sp>
        <p:nvSpPr>
          <p:cNvPr id="8" name="Trait card 2"/>
          <p:cNvSpPr/>
          <p:nvPr/>
        </p:nvSpPr>
        <p:spPr>
          <a:xfrm>
            <a:off x="324612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rait 2 circle"/>
          <p:cNvSpPr/>
          <p:nvPr/>
        </p:nvSpPr>
        <p:spPr>
          <a:xfrm>
            <a:off x="342900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Tra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502359"/>
            <a:ext cx="241402" cy="241402"/>
          </a:xfrm>
          <a:prstGeom prst="rect">
            <a:avLst/>
          </a:prstGeom>
        </p:spPr>
      </p:pic>
      <p:sp>
        <p:nvSpPr>
          <p:cNvPr id="11" name="Trait head 2"/>
          <p:cNvSpPr txBox="1"/>
          <p:nvPr/>
        </p:nvSpPr>
        <p:spPr>
          <a:xfrm>
            <a:off x="40233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判断をAIに委ねる</a:t>
            </a:r>
            <a:endParaRPr lang="en-US" sz="1300" dirty="0"/>
          </a:p>
        </p:txBody>
      </p:sp>
      <p:sp>
        <p:nvSpPr>
          <p:cNvPr id="12" name="Trait desc 2"/>
          <p:cNvSpPr txBox="1"/>
          <p:nvPr/>
        </p:nvSpPr>
        <p:spPr>
          <a:xfrm>
            <a:off x="342900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「どちらが良いですか」ばかりで、自分の基準を持たない</a:t>
            </a:r>
            <a:endParaRPr lang="en-US" sz="1100" dirty="0"/>
          </a:p>
        </p:txBody>
      </p:sp>
      <p:sp>
        <p:nvSpPr>
          <p:cNvPr id="13" name="Trait card 3"/>
          <p:cNvSpPr/>
          <p:nvPr/>
        </p:nvSpPr>
        <p:spPr>
          <a:xfrm>
            <a:off x="6035040" y="118872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rait 3 circle"/>
          <p:cNvSpPr/>
          <p:nvPr/>
        </p:nvSpPr>
        <p:spPr>
          <a:xfrm>
            <a:off x="6217920" y="13716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Tra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502359"/>
            <a:ext cx="241402" cy="241402"/>
          </a:xfrm>
          <a:prstGeom prst="rect">
            <a:avLst/>
          </a:prstGeom>
        </p:spPr>
      </p:pic>
      <p:sp>
        <p:nvSpPr>
          <p:cNvPr id="16" name="Trait head 3"/>
          <p:cNvSpPr txBox="1"/>
          <p:nvPr/>
        </p:nvSpPr>
        <p:spPr>
          <a:xfrm>
            <a:off x="681228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質問が一行で終わる</a:t>
            </a:r>
            <a:endParaRPr lang="en-US" sz="1300" dirty="0"/>
          </a:p>
        </p:txBody>
      </p:sp>
      <p:sp>
        <p:nvSpPr>
          <p:cNvPr id="17" name="Trait desc 3"/>
          <p:cNvSpPr txBox="1"/>
          <p:nvPr/>
        </p:nvSpPr>
        <p:spPr>
          <a:xfrm>
            <a:off x="6217920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「いい感じにして」で何が良いかを伝えない。不満があっても直し方が分からない</a:t>
            </a:r>
            <a:endParaRPr lang="en-US" sz="1100" dirty="0"/>
          </a:p>
        </p:txBody>
      </p:sp>
      <p:sp>
        <p:nvSpPr>
          <p:cNvPr id="18" name="Trait card 4"/>
          <p:cNvSpPr/>
          <p:nvPr/>
        </p:nvSpPr>
        <p:spPr>
          <a:xfrm>
            <a:off x="45720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rait 4 circle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Trai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39" y="3239719"/>
            <a:ext cx="241402" cy="241402"/>
          </a:xfrm>
          <a:prstGeom prst="rect">
            <a:avLst/>
          </a:prstGeom>
        </p:spPr>
      </p:pic>
      <p:sp>
        <p:nvSpPr>
          <p:cNvPr id="21" name="Trait head 4"/>
          <p:cNvSpPr txBox="1"/>
          <p:nvPr/>
        </p:nvSpPr>
        <p:spPr>
          <a:xfrm>
            <a:off x="123444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間違いを指摘できない</a:t>
            </a:r>
            <a:endParaRPr lang="en-US" sz="1300" dirty="0"/>
          </a:p>
        </p:txBody>
      </p:sp>
      <p:sp>
        <p:nvSpPr>
          <p:cNvPr id="22" name="Trait desc 4"/>
          <p:cNvSpPr txBox="1"/>
          <p:nvPr/>
        </p:nvSpPr>
        <p:spPr>
          <a:xfrm>
            <a:off x="64008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AIが自信を持って答えると反論できず、自分が正しくても引き下がる</a:t>
            </a:r>
            <a:endParaRPr lang="en-US" sz="1100" dirty="0"/>
          </a:p>
        </p:txBody>
      </p:sp>
      <p:sp>
        <p:nvSpPr>
          <p:cNvPr id="23" name="Trait card 5"/>
          <p:cNvSpPr/>
          <p:nvPr/>
        </p:nvSpPr>
        <p:spPr>
          <a:xfrm>
            <a:off x="324612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rait 5 circle"/>
          <p:cNvSpPr/>
          <p:nvPr/>
        </p:nvSpPr>
        <p:spPr>
          <a:xfrm>
            <a:off x="342900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5" name="Trait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759" y="3239719"/>
            <a:ext cx="241402" cy="241402"/>
          </a:xfrm>
          <a:prstGeom prst="rect">
            <a:avLst/>
          </a:prstGeom>
        </p:spPr>
      </p:pic>
      <p:sp>
        <p:nvSpPr>
          <p:cNvPr id="26" name="Trait head 5"/>
          <p:cNvSpPr txBox="1"/>
          <p:nvPr/>
        </p:nvSpPr>
        <p:spPr>
          <a:xfrm>
            <a:off x="402336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学ぶ機会を手放す</a:t>
            </a:r>
            <a:endParaRPr lang="en-US" sz="1300" dirty="0"/>
          </a:p>
        </p:txBody>
      </p:sp>
      <p:sp>
        <p:nvSpPr>
          <p:cNvPr id="27" name="Trait desc 5"/>
          <p:cNvSpPr txBox="1"/>
          <p:nvPr/>
        </p:nvSpPr>
        <p:spPr>
          <a:xfrm>
            <a:off x="342900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理解せず答えだけ受け取り続け、次も自力で判断できず依存が深まる</a:t>
            </a:r>
            <a:endParaRPr lang="en-US" sz="1100" dirty="0"/>
          </a:p>
        </p:txBody>
      </p:sp>
      <p:sp>
        <p:nvSpPr>
          <p:cNvPr id="28" name="Trait card 6"/>
          <p:cNvSpPr/>
          <p:nvPr/>
        </p:nvSpPr>
        <p:spPr>
          <a:xfrm>
            <a:off x="6035040" y="292608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rait 6 circle"/>
          <p:cNvSpPr/>
          <p:nvPr/>
        </p:nvSpPr>
        <p:spPr>
          <a:xfrm>
            <a:off x="6217920" y="31089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Trait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8679" y="3239719"/>
            <a:ext cx="241402" cy="241402"/>
          </a:xfrm>
          <a:prstGeom prst="rect">
            <a:avLst/>
          </a:prstGeom>
        </p:spPr>
      </p:pic>
      <p:sp>
        <p:nvSpPr>
          <p:cNvPr id="31" name="Trait head 6"/>
          <p:cNvSpPr txBox="1"/>
          <p:nvPr/>
        </p:nvSpPr>
        <p:spPr>
          <a:xfrm>
            <a:off x="6812280" y="31089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限界を知らない</a:t>
            </a:r>
            <a:endParaRPr lang="en-US" sz="1300" dirty="0"/>
          </a:p>
        </p:txBody>
      </p:sp>
      <p:sp>
        <p:nvSpPr>
          <p:cNvPr id="32" name="Trait desc 6"/>
          <p:cNvSpPr txBox="1"/>
          <p:nvPr/>
        </p:nvSpPr>
        <p:spPr>
          <a:xfrm>
            <a:off x="6217920" y="3703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知識の時点、計算の苦手さ、捏造の可能性を知らないまま使う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知っておくべきAIの4つの限界</a:t>
            </a:r>
            <a:endParaRPr lang="en-US" sz="2600" dirty="0"/>
          </a:p>
        </p:txBody>
      </p:sp>
      <p:sp>
        <p:nvSpPr>
          <p:cNvPr id="3" name="Limit card 1"/>
          <p:cNvSpPr/>
          <p:nvPr/>
        </p:nvSpPr>
        <p:spPr>
          <a:xfrm>
            <a:off x="45720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mit 1 circle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Limit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571854"/>
            <a:ext cx="285293" cy="285293"/>
          </a:xfrm>
          <a:prstGeom prst="rect">
            <a:avLst/>
          </a:prstGeom>
        </p:spPr>
      </p:pic>
      <p:sp>
        <p:nvSpPr>
          <p:cNvPr id="6" name="Limit head 1"/>
          <p:cNvSpPr txBox="1"/>
          <p:nvPr/>
        </p:nvSpPr>
        <p:spPr>
          <a:xfrm>
            <a:off x="68580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知識には時点がある</a:t>
            </a:r>
            <a:endParaRPr lang="en-US" sz="1300" dirty="0"/>
          </a:p>
        </p:txBody>
      </p:sp>
      <p:sp>
        <p:nvSpPr>
          <p:cNvPr id="7" name="Limit desc 1"/>
          <p:cNvSpPr txBox="1"/>
          <p:nvPr/>
        </p:nvSpPr>
        <p:spPr>
          <a:xfrm>
            <a:off x="68580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学習データには締め切りがある。最新情報や社内の事情は、渡さなければ知らない</a:t>
            </a:r>
            <a:endParaRPr lang="en-US" sz="1100" dirty="0"/>
          </a:p>
        </p:txBody>
      </p:sp>
      <p:sp>
        <p:nvSpPr>
          <p:cNvPr id="8" name="Limit card 2"/>
          <p:cNvSpPr/>
          <p:nvPr/>
        </p:nvSpPr>
        <p:spPr>
          <a:xfrm>
            <a:off x="256032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it 2 circle"/>
          <p:cNvSpPr/>
          <p:nvPr/>
        </p:nvSpPr>
        <p:spPr>
          <a:xfrm>
            <a:off x="278892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0" name="Limit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454" y="1571854"/>
            <a:ext cx="285293" cy="285293"/>
          </a:xfrm>
          <a:prstGeom prst="rect">
            <a:avLst/>
          </a:prstGeom>
        </p:spPr>
      </p:pic>
      <p:sp>
        <p:nvSpPr>
          <p:cNvPr id="11" name="Limit head 2"/>
          <p:cNvSpPr txBox="1"/>
          <p:nvPr/>
        </p:nvSpPr>
        <p:spPr>
          <a:xfrm>
            <a:off x="278892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もっともらしい捏造</a:t>
            </a:r>
            <a:endParaRPr lang="en-US" sz="1300" dirty="0"/>
          </a:p>
        </p:txBody>
      </p:sp>
      <p:sp>
        <p:nvSpPr>
          <p:cNvPr id="12" name="Limit desc 2"/>
          <p:cNvSpPr txBox="1"/>
          <p:nvPr/>
        </p:nvSpPr>
        <p:spPr>
          <a:xfrm>
            <a:off x="278892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存在しない文献や数値を自信満々に出すことがある。断定口調は正しさの証拠にならない</a:t>
            </a:r>
            <a:endParaRPr lang="en-US" sz="1100" dirty="0"/>
          </a:p>
        </p:txBody>
      </p:sp>
      <p:sp>
        <p:nvSpPr>
          <p:cNvPr id="13" name="Limit card 3"/>
          <p:cNvSpPr/>
          <p:nvPr/>
        </p:nvSpPr>
        <p:spPr>
          <a:xfrm>
            <a:off x="466344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imit 3 circle"/>
          <p:cNvSpPr/>
          <p:nvPr/>
        </p:nvSpPr>
        <p:spPr>
          <a:xfrm>
            <a:off x="489204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Limit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74" y="1571854"/>
            <a:ext cx="285293" cy="285293"/>
          </a:xfrm>
          <a:prstGeom prst="rect">
            <a:avLst/>
          </a:prstGeom>
        </p:spPr>
      </p:pic>
      <p:sp>
        <p:nvSpPr>
          <p:cNvPr id="16" name="Limit head 3"/>
          <p:cNvSpPr txBox="1"/>
          <p:nvPr/>
        </p:nvSpPr>
        <p:spPr>
          <a:xfrm>
            <a:off x="489204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計算や集計が苦手</a:t>
            </a:r>
            <a:endParaRPr lang="en-US" sz="1300" dirty="0"/>
          </a:p>
        </p:txBody>
      </p:sp>
      <p:sp>
        <p:nvSpPr>
          <p:cNvPr id="17" name="Limit desc 3"/>
          <p:cNvSpPr txBox="1"/>
          <p:nvPr/>
        </p:nvSpPr>
        <p:spPr>
          <a:xfrm>
            <a:off x="489204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桁の多い計算、件数の集計、厳密な照合は間違えやすい。道具やコードで確かめる</a:t>
            </a:r>
            <a:endParaRPr lang="en-US" sz="1100" dirty="0"/>
          </a:p>
        </p:txBody>
      </p:sp>
      <p:sp>
        <p:nvSpPr>
          <p:cNvPr id="18" name="Limit card 4"/>
          <p:cNvSpPr/>
          <p:nvPr/>
        </p:nvSpPr>
        <p:spPr>
          <a:xfrm>
            <a:off x="6766560" y="1188720"/>
            <a:ext cx="1920240" cy="26060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Limit 4 circle"/>
          <p:cNvSpPr/>
          <p:nvPr/>
        </p:nvSpPr>
        <p:spPr>
          <a:xfrm>
            <a:off x="6995160" y="141732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0" name="Limit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694" y="1571854"/>
            <a:ext cx="285293" cy="285293"/>
          </a:xfrm>
          <a:prstGeom prst="rect">
            <a:avLst/>
          </a:prstGeom>
        </p:spPr>
      </p:pic>
      <p:sp>
        <p:nvSpPr>
          <p:cNvPr id="21" name="Limit head 4"/>
          <p:cNvSpPr txBox="1"/>
          <p:nvPr/>
        </p:nvSpPr>
        <p:spPr>
          <a:xfrm>
            <a:off x="699516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状況を知らない</a:t>
            </a:r>
            <a:endParaRPr lang="en-US" sz="1300" dirty="0"/>
          </a:p>
        </p:txBody>
      </p:sp>
      <p:sp>
        <p:nvSpPr>
          <p:cNvPr id="22" name="Limit desc 4"/>
          <p:cNvSpPr txBox="1"/>
          <p:nvPr/>
        </p:nvSpPr>
        <p:spPr>
          <a:xfrm>
            <a:off x="6995160" y="27432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組織の力関係、過去の経緯、暗黙の前提は見えていない。助言はその前提で聞く</a:t>
            </a:r>
            <a:endParaRPr lang="en-US" sz="1100" dirty="0"/>
          </a:p>
        </p:txBody>
      </p:sp>
      <p:sp>
        <p:nvSpPr>
          <p:cNvPr id="23" name="Limit takeaway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限界を知っている人だけが、出力を疑うことができる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463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診断課題・演習・まとめ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診断課題：30分で今の傾向を知る</a:t>
            </a:r>
            <a:endParaRPr lang="en-US" sz="2600" dirty="0"/>
          </a:p>
        </p:txBody>
      </p:sp>
      <p:sp>
        <p:nvSpPr>
          <p:cNvPr id="3" name="Task card 1"/>
          <p:cNvSpPr/>
          <p:nvPr/>
        </p:nvSpPr>
        <p:spPr>
          <a:xfrm>
            <a:off x="45720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ask 1 circle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Task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839" y="1502359"/>
            <a:ext cx="241402" cy="241402"/>
          </a:xfrm>
          <a:prstGeom prst="rect">
            <a:avLst/>
          </a:prstGeom>
        </p:spPr>
      </p:pic>
      <p:sp>
        <p:nvSpPr>
          <p:cNvPr id="6" name="Task head 1"/>
          <p:cNvSpPr txBox="1"/>
          <p:nvPr/>
        </p:nvSpPr>
        <p:spPr>
          <a:xfrm>
            <a:off x="123444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課題A　検証</a:t>
            </a:r>
            <a:endParaRPr lang="en-US" sz="1300" dirty="0"/>
          </a:p>
        </p:txBody>
      </p:sp>
      <p:sp>
        <p:nvSpPr>
          <p:cNvPr id="7" name="Task what 1"/>
          <p:cNvSpPr txBox="1"/>
          <p:nvPr/>
        </p:nvSpPr>
        <p:spPr>
          <a:xfrm>
            <a:off x="64008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Claudeが書いた下書きメールを、元資料をもとに送れる状態に仕上げる</a:t>
            </a:r>
            <a:endParaRPr lang="en-US" sz="1150" dirty="0"/>
          </a:p>
        </p:txBody>
      </p:sp>
      <p:sp>
        <p:nvSpPr>
          <p:cNvPr id="8" name="Task obs 1"/>
          <p:cNvSpPr txBox="1"/>
          <p:nvPr/>
        </p:nvSpPr>
        <p:spPr>
          <a:xfrm>
            <a:off x="64008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下書きに仕込んだ3つの誤りに気づくか。元資料と照合するか</a:t>
            </a:r>
            <a:endParaRPr lang="en-US" sz="1100" dirty="0"/>
          </a:p>
        </p:txBody>
      </p:sp>
      <p:sp>
        <p:nvSpPr>
          <p:cNvPr id="9" name="Task card 2"/>
          <p:cNvSpPr/>
          <p:nvPr/>
        </p:nvSpPr>
        <p:spPr>
          <a:xfrm>
            <a:off x="324612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ask 2 circle"/>
          <p:cNvSpPr/>
          <p:nvPr/>
        </p:nvSpPr>
        <p:spPr>
          <a:xfrm>
            <a:off x="34290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Task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759" y="1502359"/>
            <a:ext cx="241402" cy="241402"/>
          </a:xfrm>
          <a:prstGeom prst="rect">
            <a:avLst/>
          </a:prstGeom>
        </p:spPr>
      </p:pic>
      <p:sp>
        <p:nvSpPr>
          <p:cNvPr id="12" name="Task head 2"/>
          <p:cNvSpPr txBox="1"/>
          <p:nvPr/>
        </p:nvSpPr>
        <p:spPr>
          <a:xfrm>
            <a:off x="402336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課題B　指示</a:t>
            </a:r>
            <a:endParaRPr lang="en-US" sz="1300" dirty="0"/>
          </a:p>
        </p:txBody>
      </p:sp>
      <p:sp>
        <p:nvSpPr>
          <p:cNvPr id="13" name="Task what 2"/>
          <p:cNvSpPr txBox="1"/>
          <p:nvPr/>
        </p:nvSpPr>
        <p:spPr>
          <a:xfrm>
            <a:off x="342900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新人向け説明資料を作るための、Claudeへの最初の依頼文を書く</a:t>
            </a:r>
            <a:endParaRPr lang="en-US" sz="1150" dirty="0"/>
          </a:p>
        </p:txBody>
      </p:sp>
      <p:sp>
        <p:nvSpPr>
          <p:cNvPr id="14" name="Task obs 2"/>
          <p:cNvSpPr txBox="1"/>
          <p:nvPr/>
        </p:nvSpPr>
        <p:spPr>
          <a:xfrm>
            <a:off x="342900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依頼文に目的・文脈・制約が入っているか</a:t>
            </a:r>
            <a:endParaRPr lang="en-US" sz="1100" dirty="0"/>
          </a:p>
        </p:txBody>
      </p:sp>
      <p:sp>
        <p:nvSpPr>
          <p:cNvPr id="15" name="Task card 3"/>
          <p:cNvSpPr/>
          <p:nvPr/>
        </p:nvSpPr>
        <p:spPr>
          <a:xfrm>
            <a:off x="6035040" y="1188720"/>
            <a:ext cx="265176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ask 3 circle"/>
          <p:cNvSpPr/>
          <p:nvPr/>
        </p:nvSpPr>
        <p:spPr>
          <a:xfrm>
            <a:off x="62179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Task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79" y="1502359"/>
            <a:ext cx="241402" cy="241402"/>
          </a:xfrm>
          <a:prstGeom prst="rect">
            <a:avLst/>
          </a:prstGeom>
        </p:spPr>
      </p:pic>
      <p:sp>
        <p:nvSpPr>
          <p:cNvPr id="18" name="Task head 3"/>
          <p:cNvSpPr txBox="1"/>
          <p:nvPr/>
        </p:nvSpPr>
        <p:spPr>
          <a:xfrm>
            <a:off x="6812280" y="1371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課題C　判断</a:t>
            </a:r>
            <a:endParaRPr lang="en-US" sz="1300" dirty="0"/>
          </a:p>
        </p:txBody>
      </p:sp>
      <p:sp>
        <p:nvSpPr>
          <p:cNvPr id="19" name="Task what 3"/>
          <p:cNvSpPr txBox="1"/>
          <p:nvPr/>
        </p:nvSpPr>
        <p:spPr>
          <a:xfrm>
            <a:off x="6217920" y="20116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仕上げたメールの送り先をClaudeに相談し、最終判断を書く</a:t>
            </a:r>
            <a:endParaRPr lang="en-US" sz="1150" dirty="0"/>
          </a:p>
        </p:txBody>
      </p:sp>
      <p:sp>
        <p:nvSpPr>
          <p:cNvPr id="20" name="Task obs 3"/>
          <p:cNvSpPr txBox="1"/>
          <p:nvPr/>
        </p:nvSpPr>
        <p:spPr>
          <a:xfrm>
            <a:off x="6217920" y="2788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見る行動　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資料を知らないClaudeの提案を、自分の情報で修正できるか</a:t>
            </a:r>
            <a:endParaRPr lang="en-US" sz="1100" dirty="0"/>
          </a:p>
        </p:txBody>
      </p:sp>
      <p:sp>
        <p:nvSpPr>
          <p:cNvPr id="21" name="Task info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ask info text"/>
          <p:cNvSpPr txBox="1"/>
          <p:nvPr/>
        </p:nvSpPr>
        <p:spPr>
          <a:xfrm>
            <a:off x="685800" y="38862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提出物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仕上げたメール／Claudeへの依頼文／送付先の最終判断と理由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所要時間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30分（A 10分、B 10分、C 5分、記入5分）。自己申告ではなく、実際の行動で見る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採点：8つの行動チェック</a:t>
            </a:r>
            <a:endParaRPr lang="en-US" sz="2600" dirty="0"/>
          </a:p>
        </p:txBody>
      </p:sp>
      <p:graphicFrame>
        <p:nvGraphicFramePr>
          <p:cNvPr id="14" name="Checkli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2120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見る行動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仕込んだ誤りを2個以上見つけた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元資料と照合した形跡がある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Claudeに頼む際、元資料を渡した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依頼文に目的（誰に、何のため）がある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依頼文に文脈（不慣れ、Teams）がある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B3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依頼文に制約（時間、禁止事項、トーン）がある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Claudeの提案と自分の判断が違う場合、理由を書けた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送付先から役員と契約社員を除いた</a:t>
                      </a:r>
                      <a:endParaRPr 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and card 1"/>
          <p:cNvSpPr/>
          <p:nvPr/>
        </p:nvSpPr>
        <p:spPr>
          <a:xfrm>
            <a:off x="5943600" y="118872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nd num 1"/>
          <p:cNvSpPr txBox="1"/>
          <p:nvPr/>
        </p:nvSpPr>
        <p:spPr>
          <a:xfrm>
            <a:off x="6126480" y="12801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6個以上</a:t>
            </a:r>
            <a:endParaRPr lang="en-US" sz="1500" dirty="0"/>
          </a:p>
        </p:txBody>
      </p:sp>
      <p:sp>
        <p:nvSpPr>
          <p:cNvPr id="6" name="Band desc 1"/>
          <p:cNvSpPr txBox="1"/>
          <p:nvPr/>
        </p:nvSpPr>
        <p:spPr>
          <a:xfrm>
            <a:off x="612648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AIを使う人の傾向</a:t>
            </a:r>
            <a:endParaRPr lang="en-US" sz="1050" dirty="0"/>
          </a:p>
        </p:txBody>
      </p:sp>
      <p:sp>
        <p:nvSpPr>
          <p:cNvPr id="7" name="Band card 2"/>
          <p:cNvSpPr/>
          <p:nvPr/>
        </p:nvSpPr>
        <p:spPr>
          <a:xfrm>
            <a:off x="5943600" y="219456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Band num 2"/>
          <p:cNvSpPr txBox="1"/>
          <p:nvPr/>
        </p:nvSpPr>
        <p:spPr>
          <a:xfrm>
            <a:off x="6126480" y="2286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3〜5個</a:t>
            </a:r>
            <a:endParaRPr lang="en-US" sz="1500" dirty="0"/>
          </a:p>
        </p:txBody>
      </p:sp>
      <p:sp>
        <p:nvSpPr>
          <p:cNvPr id="9" name="Band desc 2"/>
          <p:cNvSpPr txBox="1"/>
          <p:nvPr/>
        </p:nvSpPr>
        <p:spPr>
          <a:xfrm>
            <a:off x="6126480" y="26060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中間。×が集中した区分を本人に伝える</a:t>
            </a:r>
            <a:endParaRPr lang="en-US" sz="1050" dirty="0"/>
          </a:p>
        </p:txBody>
      </p:sp>
      <p:sp>
        <p:nvSpPr>
          <p:cNvPr id="10" name="Band card 3"/>
          <p:cNvSpPr/>
          <p:nvPr/>
        </p:nvSpPr>
        <p:spPr>
          <a:xfrm>
            <a:off x="5943600" y="320040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nd num 3"/>
          <p:cNvSpPr txBox="1"/>
          <p:nvPr/>
        </p:nvSpPr>
        <p:spPr>
          <a:xfrm>
            <a:off x="6126480" y="3291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2個以下</a:t>
            </a:r>
            <a:endParaRPr lang="en-US" sz="1500" dirty="0"/>
          </a:p>
        </p:txBody>
      </p:sp>
      <p:sp>
        <p:nvSpPr>
          <p:cNvPr id="12" name="Band desc 3"/>
          <p:cNvSpPr txBox="1"/>
          <p:nvPr/>
        </p:nvSpPr>
        <p:spPr>
          <a:xfrm>
            <a:off x="612648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AIに使われる人の傾向。まず種明かしで体感してもらう</a:t>
            </a:r>
            <a:endParaRPr lang="en-US" sz="1050" dirty="0"/>
          </a:p>
        </p:txBody>
      </p:sp>
      <p:sp>
        <p:nvSpPr>
          <p:cNvPr id="13" name="Scoring note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結果は「タイプ」ではなく「今の傾向」として返す。ラベルを貼ると防御反応が出て、講義が入らなくなる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演習：同じ課題を2通りの指示で試す</a:t>
            </a:r>
            <a:endParaRPr lang="en-US" sz="2600" dirty="0"/>
          </a:p>
        </p:txBody>
      </p:sp>
      <p:sp>
        <p:nvSpPr>
          <p:cNvPr id="3" name="Step card 1"/>
          <p:cNvSpPr/>
          <p:nvPr/>
        </p:nvSpPr>
        <p:spPr>
          <a:xfrm>
            <a:off x="4572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circle 1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tep num 1"/>
          <p:cNvSpPr txBox="1"/>
          <p:nvPr/>
        </p:nvSpPr>
        <p:spPr>
          <a:xfrm>
            <a:off x="6858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tep head 1"/>
          <p:cNvSpPr txBox="1"/>
          <p:nvPr/>
        </p:nvSpPr>
        <p:spPr>
          <a:xfrm>
            <a:off x="6858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一行で頼む</a:t>
            </a:r>
            <a:endParaRPr lang="en-US" sz="1400" dirty="0"/>
          </a:p>
        </p:txBody>
      </p:sp>
      <p:sp>
        <p:nvSpPr>
          <p:cNvPr id="7" name="Step desc 1"/>
          <p:cNvSpPr txBox="1"/>
          <p:nvPr/>
        </p:nvSpPr>
        <p:spPr>
          <a:xfrm>
            <a:off x="6858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まず「いい感じに」のような短い指示で出力を得る</a:t>
            </a:r>
            <a:endParaRPr lang="en-US" sz="1150" dirty="0"/>
          </a:p>
        </p:txBody>
      </p:sp>
      <p:pic>
        <p:nvPicPr>
          <p:cNvPr id="8" name="Step arrow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057400"/>
            <a:ext cx="256032" cy="256032"/>
          </a:xfrm>
          <a:prstGeom prst="rect">
            <a:avLst/>
          </a:prstGeom>
        </p:spPr>
      </p:pic>
      <p:sp>
        <p:nvSpPr>
          <p:cNvPr id="9" name="Step card 2"/>
          <p:cNvSpPr/>
          <p:nvPr/>
        </p:nvSpPr>
        <p:spPr>
          <a:xfrm>
            <a:off x="33147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circle 2"/>
          <p:cNvSpPr/>
          <p:nvPr/>
        </p:nvSpPr>
        <p:spPr>
          <a:xfrm>
            <a:off x="35433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 num 2"/>
          <p:cNvSpPr txBox="1"/>
          <p:nvPr/>
        </p:nvSpPr>
        <p:spPr>
          <a:xfrm>
            <a:off x="35433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Step head 2"/>
          <p:cNvSpPr txBox="1"/>
          <p:nvPr/>
        </p:nvSpPr>
        <p:spPr>
          <a:xfrm>
            <a:off x="35433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目的・文脈・制約を添えて頼む</a:t>
            </a:r>
            <a:endParaRPr lang="en-US" sz="1400" dirty="0"/>
          </a:p>
        </p:txBody>
      </p:sp>
      <p:sp>
        <p:nvSpPr>
          <p:cNvPr id="13" name="Step desc 2"/>
          <p:cNvSpPr txBox="1"/>
          <p:nvPr/>
        </p:nvSpPr>
        <p:spPr>
          <a:xfrm>
            <a:off x="35433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誰向けか、何に使うか、長さや形式の条件を書いて同じ課題を頼む</a:t>
            </a:r>
            <a:endParaRPr lang="en-US" sz="1150" dirty="0"/>
          </a:p>
        </p:txBody>
      </p:sp>
      <p:pic>
        <p:nvPicPr>
          <p:cNvPr id="14" name="Step arrow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057400"/>
            <a:ext cx="256032" cy="256032"/>
          </a:xfrm>
          <a:prstGeom prst="rect">
            <a:avLst/>
          </a:prstGeom>
        </p:spPr>
      </p:pic>
      <p:sp>
        <p:nvSpPr>
          <p:cNvPr id="15" name="Step card 3"/>
          <p:cNvSpPr/>
          <p:nvPr/>
        </p:nvSpPr>
        <p:spPr>
          <a:xfrm>
            <a:off x="6172200" y="1188720"/>
            <a:ext cx="251460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 circle 3"/>
          <p:cNvSpPr/>
          <p:nvPr/>
        </p:nvSpPr>
        <p:spPr>
          <a:xfrm>
            <a:off x="6400800" y="14173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tep num 3"/>
          <p:cNvSpPr txBox="1"/>
          <p:nvPr/>
        </p:nvSpPr>
        <p:spPr>
          <a:xfrm>
            <a:off x="6400800" y="1417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Step head 3"/>
          <p:cNvSpPr txBox="1"/>
          <p:nvPr/>
        </p:nvSpPr>
        <p:spPr>
          <a:xfrm>
            <a:off x="6400800" y="21488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並べて比べ、違いを言葉にする</a:t>
            </a:r>
            <a:endParaRPr lang="en-US" sz="1400" dirty="0"/>
          </a:p>
        </p:txBody>
      </p:sp>
      <p:sp>
        <p:nvSpPr>
          <p:cNvPr id="19" name="Step desc 3"/>
          <p:cNvSpPr txBox="1"/>
          <p:nvPr/>
        </p:nvSpPr>
        <p:spPr>
          <a:xfrm>
            <a:off x="6400800" y="27432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どこが変わったか、なぜ変わったかを自分の言葉で説明する</a:t>
            </a:r>
            <a:endParaRPr lang="en-US" sz="1150" dirty="0"/>
          </a:p>
        </p:txBody>
      </p:sp>
      <p:sp>
        <p:nvSpPr>
          <p:cNvPr id="20" name="Exercise info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Exercise text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課題例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「この社内文書を、全社員向けの案内メールに書き直して」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chemeClr val="tx2"/>
                </a:solidFill>
              </a:rPr>
              <a:t>所要時間　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15分（各5分）。終了後、隣の人と結果を見せ合う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mmary title"/>
          <p:cNvSpPr txBox="1"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明日からできる3つのこと</a:t>
            </a:r>
            <a:endParaRPr lang="en-US" sz="3000" dirty="0"/>
          </a:p>
        </p:txBody>
      </p:sp>
      <p:sp>
        <p:nvSpPr>
          <p:cNvPr id="3" name="Act circle 1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Act num 1"/>
          <p:cNvSpPr txBox="1"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Act head 1"/>
          <p:cNvSpPr txBox="1"/>
          <p:nvPr/>
        </p:nvSpPr>
        <p:spPr>
          <a:xfrm>
            <a:off x="1417320" y="1325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頼む前に、目的を一文で書く</a:t>
            </a:r>
            <a:endParaRPr lang="en-US" sz="1800" dirty="0"/>
          </a:p>
        </p:txBody>
      </p:sp>
      <p:sp>
        <p:nvSpPr>
          <p:cNvPr id="6" name="Act sub 1"/>
          <p:cNvSpPr txBox="1"/>
          <p:nvPr/>
        </p:nvSpPr>
        <p:spPr>
          <a:xfrm>
            <a:off x="1417320" y="16916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誰のために、何を、どこまで</a:t>
            </a:r>
            <a:endParaRPr lang="en-US" sz="1200" dirty="0"/>
          </a:p>
        </p:txBody>
      </p:sp>
      <p:sp>
        <p:nvSpPr>
          <p:cNvPr id="7" name="Act circle 2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Act num 2"/>
          <p:cNvSpPr txBox="1"/>
          <p:nvPr/>
        </p:nvSpPr>
        <p:spPr>
          <a:xfrm>
            <a:off x="64008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Act head 2"/>
          <p:cNvSpPr txBox="1"/>
          <p:nvPr/>
        </p:nvSpPr>
        <p:spPr>
          <a:xfrm>
            <a:off x="1417320" y="2194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出力は必ず自分で確かめる</a:t>
            </a:r>
            <a:endParaRPr lang="en-US" sz="1800" dirty="0"/>
          </a:p>
        </p:txBody>
      </p:sp>
      <p:sp>
        <p:nvSpPr>
          <p:cNvPr id="10" name="Act sub 2"/>
          <p:cNvSpPr txBox="1"/>
          <p:nvPr/>
        </p:nvSpPr>
        <p:spPr>
          <a:xfrm>
            <a:off x="141732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動かす、根拠を当たる、数を数える</a:t>
            </a:r>
            <a:endParaRPr lang="en-US" sz="1200" dirty="0"/>
          </a:p>
        </p:txBody>
      </p:sp>
      <p:sp>
        <p:nvSpPr>
          <p:cNvPr id="11" name="Act circle 3"/>
          <p:cNvSpPr/>
          <p:nvPr/>
        </p:nvSpPr>
        <p:spPr>
          <a:xfrm>
            <a:off x="640080" y="31089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ct num 3"/>
          <p:cNvSpPr txBox="1"/>
          <p:nvPr/>
        </p:nvSpPr>
        <p:spPr>
          <a:xfrm>
            <a:off x="64008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3" name="Act head 3"/>
          <p:cNvSpPr txBox="1"/>
          <p:nvPr/>
        </p:nvSpPr>
        <p:spPr>
          <a:xfrm>
            <a:off x="1417320" y="3063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一回で終わらせず、直して頼み直す</a:t>
            </a:r>
            <a:endParaRPr lang="en-US" sz="1800" dirty="0"/>
          </a:p>
        </p:txBody>
      </p:sp>
      <p:sp>
        <p:nvSpPr>
          <p:cNvPr id="14" name="Act sub 3"/>
          <p:cNvSpPr txBox="1"/>
          <p:nvPr/>
        </p:nvSpPr>
        <p:spPr>
          <a:xfrm>
            <a:off x="1417320" y="3429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対話は編集作業</a:t>
            </a:r>
            <a:endParaRPr lang="en-US" sz="1200" dirty="0"/>
          </a:p>
        </p:txBody>
      </p:sp>
      <p:sp>
        <p:nvSpPr>
          <p:cNvPr id="15" name="Closing line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AIを使う人は、問いと検証を自分で持っている。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15544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18" name="Text 0"/>
          <p:cNvSpPr/>
          <p:nvPr>
            <p:ph idx="101" type="body" hasCustomPrompt="1"/>
          </p:nvPr>
        </p:nvSpPr>
        <p:spPr>
          <a:xfrm>
            <a:off x="640080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ude Skills Lecture">
  <a:themeElements>
    <a:clrScheme name="Claude Skills Lecture">
      <a:dk1>
        <a:srgbClr val="1C2B33"/>
      </a:dk1>
      <a:lt1>
        <a:srgbClr val="FFFFFF"/>
      </a:lt1>
      <a:dk2>
        <a:srgbClr val="0F4C5C"/>
      </a:dk2>
      <a:lt2>
        <a:srgbClr val="EEF4F5"/>
      </a:lt2>
      <a:accent1>
        <a:srgbClr val="E36414"/>
      </a:accent1>
      <a:accent2>
        <a:srgbClr val="2A9D8F"/>
      </a:accent2>
      <a:accent3>
        <a:srgbClr val="B23A48"/>
      </a:accent3>
      <a:accent4>
        <a:srgbClr val="5C6B73"/>
      </a:accent4>
      <a:accent5>
        <a:srgbClr val="F6D8C3"/>
      </a:accent5>
      <a:accent6>
        <a:srgbClr val="C9DEE2"/>
      </a:accent6>
      <a:hlink>
        <a:srgbClr val="E36414"/>
      </a:hlink>
      <a:folHlink>
        <a:srgbClr val="9A3B3B"/>
      </a:folHlink>
    </a:clrScheme>
    <a:fontScheme name="Claude Skills Lecture">
      <a:majorFont>
        <a:latin typeface="Meiryo"/>
        <a:ea typeface="Meiryo"/>
        <a:cs typeface=""/>
        <a:font script="Jpan" typeface="Meiryo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Meiryo"/>
        <a:cs typeface=""/>
        <a:font script="Jpan" typeface="Meiryo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Claudeを使いこなすために必要なスキル</dc:title>
  <dc:subject>PptxGenJS Presentation</dc:subject>
  <dc:creator>講義資料</dc:creator>
  <cp:lastModifiedBy>講義資料</cp:lastModifiedBy>
  <cp:revision>1</cp:revision>
  <dcterms:created xsi:type="dcterms:W3CDTF">2026-10-28T04:53:34Z</dcterms:created>
  <dcterms:modified xsi:type="dcterms:W3CDTF">2026-10-28T04:53:34Z</dcterms:modified>
</cp:coreProperties>
</file>